
<file path=[Content_Types].xml><?xml version="1.0" encoding="utf-8"?>
<Types xmlns="http://schemas.openxmlformats.org/package/2006/content-types">
  <Default Extension="jpeg" ContentType="image/jpeg"/>
  <Default Extension="mp4" ContentType="video/unknown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BB0A5416-BBC3-4007-BDF7-36F45EA26E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BBE91A-16C0-468A-A2B4-9F9DBC8D213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presProps" Target="presProps.xml"  /><Relationship Id="rId51" Type="http://schemas.openxmlformats.org/officeDocument/2006/relationships/viewProps" Target="viewProps.xml"  /><Relationship Id="rId52" Type="http://schemas.openxmlformats.org/officeDocument/2006/relationships/theme" Target="theme/theme1.xml"  /><Relationship Id="rId53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8.xml"  /><Relationship Id="rId2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9.xml"  /><Relationship Id="rId2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1.xml"  /><Relationship Id="rId2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0" name="Google Shape;100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1. 직렬 변환 설계 (TX)</a:t>
            </a:r>
            <a:endParaRPr lang="en-US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en-US">
                <a:solidFill>
                  <a:schemeClr val="dk1"/>
                </a:solidFill>
              </a:rPr>
              <a:t>8bit 병렬 데이터를 UART 규격(LSB First)에 맞춰 한 비트씩 전송하는 </a:t>
            </a:r>
            <a:r>
              <a:rPr lang="en-US" b="1">
                <a:solidFill>
                  <a:schemeClr val="dk1"/>
                </a:solidFill>
              </a:rPr>
              <a:t>PISO(Parallel-In Serial-Out) 구조</a:t>
            </a:r>
            <a:r>
              <a:rPr lang="en-US">
                <a:solidFill>
                  <a:schemeClr val="dk1"/>
                </a:solidFill>
              </a:rPr>
              <a:t>의 송신부를 구현하였습니다.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2. 오버샘플링 복원 (RX)</a:t>
            </a:r>
            <a:endParaRPr lang="en-US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en-US" b="1">
                <a:solidFill>
                  <a:schemeClr val="dk1"/>
                </a:solidFill>
              </a:rPr>
              <a:t>16배속 오버샘플링</a:t>
            </a:r>
            <a:r>
              <a:rPr lang="en-US">
                <a:solidFill>
                  <a:schemeClr val="dk1"/>
                </a:solidFill>
              </a:rPr>
              <a:t>을 통해 노이즈를 필터링하고, 각 비트의 **중앙부(Center)**에서 정밀하게 값을 추출하는 수신부를 구현하였습니다.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3. PC-FPGA Loopback 검증</a:t>
            </a:r>
            <a:endParaRPr lang="en-US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Char char="●"/>
              <a:defRPr/>
            </a:pPr>
            <a:r>
              <a:rPr lang="en-US">
                <a:solidFill>
                  <a:schemeClr val="dk1"/>
                </a:solidFill>
              </a:rPr>
              <a:t>PC에서 보낸 데이터를 FPGA가 수신 즉시 재전송하여, </a:t>
            </a:r>
            <a:r>
              <a:rPr lang="en-US" b="1">
                <a:solidFill>
                  <a:schemeClr val="dk1"/>
                </a:solidFill>
              </a:rPr>
              <a:t>PC와 FPGA 간</a:t>
            </a:r>
            <a:r>
              <a:rPr lang="en-US">
                <a:solidFill>
                  <a:schemeClr val="dk1"/>
                </a:solidFill>
              </a:rPr>
              <a:t> 전체 통신 경로의 </a:t>
            </a:r>
            <a:r>
              <a:rPr lang="en-US" b="1">
                <a:solidFill>
                  <a:schemeClr val="dk1"/>
                </a:solidFill>
              </a:rPr>
              <a:t>데이터 무결성</a:t>
            </a:r>
            <a:r>
              <a:rPr lang="en-US">
                <a:solidFill>
                  <a:schemeClr val="dk1"/>
                </a:solidFill>
              </a:rPr>
              <a:t> 및 시스템 안정성을 최종 확인하였습니다.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5" name="Google Shape;175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45aabcb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RX 방향에서는 PC에서 들어온 ASCII 명령어를 FIFO에 저장한 뒤 Decoder가 순차적으로 읽어 가상 스위치와 버튼 신호로 변환합니다. 반대로 TX 방향에서는 ASCII Sender가 만든 상태 문자열을 FIFO에 저장하고, UART_TX가 전송 가능한 타이밍에 하나씩 PC로 출력합니다. </a:t>
            </a:r>
            <a:br>
              <a:rPr lang="en-US"/>
            </a:br>
            <a:r>
              <a:rPr lang="en-US"/>
              <a:t>FIFO는 단순 저장공간이 아니라 UART 통신과 내부 제어 모듈 사이의 속도 차이를 완화하는 버퍼 역할을 합니다. </a:t>
            </a:r>
            <a:endParaRPr/>
          </a:p>
        </p:txBody>
      </p:sp>
      <p:sp>
        <p:nvSpPr>
          <p:cNvPr id="205" name="Google Shape;205;g3d945aabcb5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c288aeda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RX 방향에서는 PC에서 들어온 ASCII 명령어를 FIFO에 저장한 뒤 Decoder가 순차적으로 읽어 가상 스위치와 버튼 신호로 변환합니다. 반대로 TX 방향에서는 ASCII Sender가 만든 상태 문자열을 FIFO에 저장하고, UART_TX가 전송 가능한 타이밍에 하나씩 PC로 출력합니다. </a:t>
            </a:r>
            <a:br>
              <a:rPr lang="en-US"/>
            </a:br>
            <a:r>
              <a:rPr lang="en-US"/>
              <a:t>FIFO는 단순 저장공간이 아니라 UART 통신과 내부 제어 모듈 사이의 속도 차이를 완화하는 버퍼 역할을 합니다. </a:t>
            </a:r>
            <a:endParaRPr/>
          </a:p>
        </p:txBody>
      </p:sp>
      <p:sp>
        <p:nvSpPr>
          <p:cNvPr id="226" name="Google Shape;226;g3dc288aeda7_4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6eb7af18_7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RX 방향에서는 PC에서 들어온 ASCII 명령어를 FIFO에 저장한 뒤 Decoder가 순차적으로 읽어 가상 스위치와 버튼 신호로 변환합니다. 반대로 TX 방향에서는 ASCII Sender가 만든 상태 문자열을 FIFO에 저장하고, UART_TX가 전송 가능한 타이밍에 하나씩 PC로 출력합니다. </a:t>
            </a:r>
            <a:br>
              <a:rPr lang="en-US"/>
            </a:br>
            <a:r>
              <a:rPr lang="en-US"/>
              <a:t>FIFO는 단순 저장공간이 아니라 UART 통신과 내부 제어 모듈 사이의 속도 차이를 완화하는 버퍼 역할을 합니다. </a:t>
            </a:r>
            <a:endParaRPr/>
          </a:p>
        </p:txBody>
      </p:sp>
      <p:sp>
        <p:nvSpPr>
          <p:cNvPr id="259" name="Google Shape;259;g3dc6eb7af18_7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c6eb7af18_7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RX 방향에서는 PC에서 들어온 ASCII 명령어를 FIFO에 저장한 뒤 Decoder가 순차적으로 읽어 가상 스위치와 버튼 신호로 변환합니다. 반대로 TX 방향에서는 ASCII Sender가 만든 상태 문자열을 FIFO에 저장하고, UART_TX가 전송 가능한 타이밍에 하나씩 PC로 출력합니다. </a:t>
            </a:r>
            <a:br>
              <a:rPr lang="en-US"/>
            </a:br>
            <a:r>
              <a:rPr lang="en-US"/>
              <a:t>FIFO는 단순 저장공간이 아니라 UART 통신과 내부 제어 모듈 사이의 속도 차이를 완화하는 버퍼 역할을 합니다. </a:t>
            </a:r>
            <a:endParaRPr/>
          </a:p>
        </p:txBody>
      </p:sp>
      <p:sp>
        <p:nvSpPr>
          <p:cNvPr id="298" name="Google Shape;298;g3dc6eb7af18_7_5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c6eb7af18_7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RX 방향에서는 PC에서 들어온 ASCII 명령어를 FIFO에 저장한 뒤 Decoder가 순차적으로 읽어 가상 스위치와 버튼 신호로 변환합니다. 반대로 TX 방향에서는 ASCII Sender가 만든 상태 문자열을 FIFO에 저장하고, UART_TX가 전송 가능한 타이밍에 하나씩 PC로 출력합니다. </a:t>
            </a:r>
            <a:br>
              <a:rPr lang="en-US"/>
            </a:br>
            <a:r>
              <a:rPr lang="en-US"/>
              <a:t>FIFO는 단순 저장공간이 아니라 UART 통신과 내부 제어 모듈 사이의 속도 차이를 완화하는 버퍼 역할을 합니다. </a:t>
            </a:r>
            <a:endParaRPr/>
          </a:p>
        </p:txBody>
      </p:sp>
      <p:sp>
        <p:nvSpPr>
          <p:cNvPr id="340" name="Google Shape;340;g3dc6eb7af18_7_9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945aabcb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81" name="Google Shape;381;g3d945aabcb5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c288aeda7_2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20" name="Google Shape;420;g3dc288aeda7_2_18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c288aeda7_2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64" name="Google Shape;464;g3dc288aeda7_2_23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dc288aeda7_2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92" name="Google Shape;492;g3dc288aeda7_2_27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c288aeda7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PC 명령어는 ASCII Decoder에서 Virtual SW/BTN으로 변환되고, Input Merger를 통해 실제 FPGA 입력과 동일한 제어 흐름으로 처리된다. 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표는 PC에서 입력한 명령어가 FPGA 내부에서 어떤 입력 신호로 바뀌는지를 정리한 것입니다.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STW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WTC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ULT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DHT</a:t>
            </a:r>
            <a:r>
              <a:rPr lang="en-US">
                <a:solidFill>
                  <a:schemeClr val="dk1"/>
                </a:solidFill>
              </a:rPr>
              <a:t>는 메인 모드를 선택하고,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D0_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D1_</a:t>
            </a:r>
            <a:r>
              <a:rPr lang="en-US">
                <a:solidFill>
                  <a:schemeClr val="dk1"/>
                </a:solidFill>
              </a:rPr>
              <a:t>은 표시 데이터를 선택합니다.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>
                <a:solidFill>
                  <a:schemeClr val="dk1"/>
                </a:solidFill>
              </a:rPr>
              <a:t>은 Watch의 실행 모드와 설정 모드를 선택합니다. 버튼 계열 명령어는 실제 버튼을 누른 것처럼 1클럭 pulse로 생성되며, 마지막으로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STS</a:t>
            </a:r>
            <a:r>
              <a:rPr lang="en-US">
                <a:solidFill>
                  <a:schemeClr val="dk1"/>
                </a:solidFill>
              </a:rPr>
              <a:t>는 현재 상태를 PC로 다시 출력하기 위한 요청 신호입니다. </a:t>
            </a:r>
            <a:r>
              <a:rPr lang="en-US"/>
              <a:t> </a:t>
            </a:r>
            <a:endParaRPr/>
          </a:p>
        </p:txBody>
      </p:sp>
      <p:sp>
        <p:nvSpPr>
          <p:cNvPr id="522" name="Google Shape;522;g3dc288aeda7_2_7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bddf81f9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42" name="Google Shape;542;g3dbddf81f9d_3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c288aeda7_2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69" name="Google Shape;569;g3dc288aeda7_2_3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c288aeda7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07" name="Google Shape;607;g3dc288aeda7_2_3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dbddf81f9d_3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30" name="Google Shape;630;g3dbddf81f9d_3_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c288aeda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48" name="Google Shape;648;g3dc288aeda7_2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c288aeda7_2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66" name="Google Shape;666;g3dc288aeda7_2_4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dc288aeda7_2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마지막으로 uart 루프백 시스템의 전체적인 하드웨어 구조와 데이터 흐름을 블록 다이어그램을 통해서 설명하겠습니다.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외부 통신 환경 (pc&lt;-&gt;fpga)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pc와 fpga는 rx(수신)와 tx(송신) 두개의 라인으로 연결되어 있습니다.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pc가 데이터를 보내면 fpga의 rx 핀으로 입력되고, fpga가 처리를 마치면 다시 tx 핀을 통해 pc로 돌려주는 구조입니다.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데이터 수신 및 동기화 (baud_tick_gen &amp; uart_rx)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시스템의 심장부인 baud_tick_gen은 보드의 빠른 클럭을 쪼개어 uart_rx와 tx 모듈이 약속된 속도로 움직일 수 있도로 b_tick 신호를 공급합니다.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uart_rx 모듈은 이 박자에 맞춰 pc에서 온 직렬 데이터를 8비트 병렬 데이터로 복원합니다. 복원이 완료되면 rx_done 신호를 발생시켜 데이터가 준비되었음을 시스템에 알립니다.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루프백의 핵심(rx&lt;-&gt;tx) 연결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블록 다이어그램 중앙의 연결선을 보시면 rx_data가 tx_data로 rx_done 신호가 tx_start로 직접 연결된 것을 확인할 수 있습니다.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이 설계 덕분에 수신이 완료되는 즉시 별도의 제어 없이 송신 모듈이 트리거 되며, 받은 데이터를 그대로 복사하여 회신할 준비를 마칩니다.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데이터 회신 및 상태 표시(uart_tx)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트리거를 받은 uart_tx 모듈은 데이터를 다시 uart 규격의 직렬 신호로 변환하여 pc로 송출합니다. 이때 tx_busy 신호를 통해 현재 신호가 전송중임을 외부에 알리며 시스템의 안정성을 보장합니다.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결론적으로 이 루프백 구조의 핵심은 수신 완료(rx_done)가 곧 송신 시작(tx_start)이 되는 즉각적인 데이터 미러링입니다. 이를 통해 fpga 내부에서 데이터가 왜곡없이 처리되는지 실시간으로 검증할 수 있으며, 이는 향후 고도화된 시스템 설계에 있어 가장 기본이 되는 통신 무결성 확보의 핵심 로직입니다.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[나의 모르는 내용 정리]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PC → FPGA (직렬):</a:t>
            </a:r>
            <a:r>
              <a:rPr lang="en-US">
                <a:solidFill>
                  <a:schemeClr val="dk1"/>
                </a:solidFill>
              </a:rPr>
              <a:t> 전선 아끼려고 1차로로 보냄.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RX 모듈 (병렬화):</a:t>
            </a:r>
            <a:r>
              <a:rPr lang="en-US">
                <a:solidFill>
                  <a:schemeClr val="dk1"/>
                </a:solidFill>
              </a:rPr>
              <a:t> FPGA 안에서 처리하기 편하게 </a:t>
            </a:r>
            <a:r>
              <a:rPr lang="en-US" b="1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8개를 모음. (SIPO)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Loopback (데이터 복사):</a:t>
            </a:r>
            <a:r>
              <a:rPr lang="en-US">
                <a:solidFill>
                  <a:schemeClr val="dk1"/>
                </a:solidFill>
              </a:rPr>
              <a:t> 8비트 뭉치를 그대로 송신기로 넘김.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TX 모듈 (직렬화):</a:t>
            </a:r>
            <a:r>
              <a:rPr lang="en-US">
                <a:solidFill>
                  <a:schemeClr val="dk1"/>
                </a:solidFill>
              </a:rPr>
              <a:t> 다시 PC로 보내려니 도로가 1차로뿐이라 </a:t>
            </a:r>
            <a:r>
              <a:rPr lang="en-US" b="1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하나씩 풀어서 보냄. (PISO)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FPGA → PC (직렬):</a:t>
            </a:r>
            <a:r>
              <a:rPr lang="en-US">
                <a:solidFill>
                  <a:schemeClr val="dk1"/>
                </a:solidFill>
              </a:rPr>
              <a:t> 다시 1차로를 타고 PC로 돌아감.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698" name="Google Shape;698;g3dc288aeda7_2_44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마지막으로 uart 루프백 시스템의 전체적인 하드웨어 구조와 데이터 흐름을 블록 다이어그램을 통해서 설명하겠습니다.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외부 통신 환경 (pc&lt;-&gt;fpga)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pc와 fpga는 rx(수신)와 tx(송신) 두개의 라인으로 연결되어 있습니다.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pc가 데이터를 보내면 fpga의 rx 핀으로 입력되고, fpga가 처리를 마치면 다시 tx 핀을 통해 pc로 돌려주는 구조입니다.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데이터 수신 및 동기화 (baud_tick_gen &amp; uart_rx)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시스템의 심장부인 baud_tick_gen은 보드의 빠른 클럭을 쪼개어 uart_rx와 tx 모듈이 약속된 속도로 움직일 수 있도로 b_tick 신호를 공급합니다.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uart_rx 모듈은 이 박자에 맞춰 pc에서 온 직렬 데이터를 8비트 병렬 데이터로 복원합니다. 복원이 완료되면 rx_done 신호를 발생시켜 데이터가 준비되었음을 시스템에 알립니다.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루프백의 핵심(rx&lt;-&gt;tx) 연결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블록 다이어그램 중앙의 연결선을 보시면 rx_data가 tx_data로 rx_done 신호가 tx_start로 직접 연결된 것을 확인할 수 있습니다.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이 설계 덕분에 수신이 완료되는 즉시 별도의 제어 없이 송신 모듈이 트리거 되며, 받은 데이터를 그대로 복사하여 회신할 준비를 마칩니다.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eriod"/>
              <a:defRPr/>
            </a:pPr>
            <a:r>
              <a:rPr lang="en-US"/>
              <a:t>데이터 회신 및 상태 표시(uart_tx)</a:t>
            </a:r>
            <a:endParaRPr lang="en-US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Char char="-"/>
              <a:defRPr/>
            </a:pPr>
            <a:r>
              <a:rPr lang="en-US"/>
              <a:t>트리거를 받은 uart_tx 모듈은 데이터를 다시 uart 규격의 직렬 신호로 변환하여 pc로 송출합니다. 이때 tx_busy 신호를 통해 현재 신호가 전송중임을 외부에 알리며 시스템의 안정성을 보장합니다.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결론적으로 이 루프백 구조의 핵심은 수신 완료(rx_done)가 곧 송신 시작(tx_start)이 되는 즉각적인 데이터 미러링입니다. 이를 통해 fpga 내부에서 데이터가 왜곡없이 처리되는지 실시간으로 검증할 수 있으며, 이는 향후 고도화된 시스템 설계에 있어 가장 기본이 되는 통신 무결성 확보의 핵심 로직입니다.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[나의 모르는 내용 정리]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PC → FPGA (직렬):</a:t>
            </a:r>
            <a:r>
              <a:rPr lang="en-US">
                <a:solidFill>
                  <a:schemeClr val="dk1"/>
                </a:solidFill>
              </a:rPr>
              <a:t> 전선 아끼려고 1차로로 보냄.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RX 모듈 (병렬화):</a:t>
            </a:r>
            <a:r>
              <a:rPr lang="en-US">
                <a:solidFill>
                  <a:schemeClr val="dk1"/>
                </a:solidFill>
              </a:rPr>
              <a:t> FPGA 안에서 처리하기 편하게 </a:t>
            </a:r>
            <a:r>
              <a:rPr lang="en-US" b="1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8개를 모음. (SIPO)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Loopback (데이터 복사):</a:t>
            </a:r>
            <a:r>
              <a:rPr lang="en-US">
                <a:solidFill>
                  <a:schemeClr val="dk1"/>
                </a:solidFill>
              </a:rPr>
              <a:t> 8비트 뭉치를 그대로 송신기로 넘김.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TX 모듈 (직렬화):</a:t>
            </a:r>
            <a:r>
              <a:rPr lang="en-US">
                <a:solidFill>
                  <a:schemeClr val="dk1"/>
                </a:solidFill>
              </a:rPr>
              <a:t> 다시 PC로 보내려니 도로가 1차로뿐이라 </a:t>
            </a:r>
            <a:r>
              <a:rPr lang="en-US" b="1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하나씩 풀어서 보냄. (PISO)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FPGA → PC (직렬):</a:t>
            </a:r>
            <a:r>
              <a:rPr lang="en-US">
                <a:solidFill>
                  <a:schemeClr val="dk1"/>
                </a:solidFill>
              </a:rPr>
              <a:t> 다시 1차로를 타고 PC로 돌아감.</a:t>
            </a:r>
            <a:endParaRPr lang="en-US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717" name="Google Shape;717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61982b48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버튼 r과 같은 트리거를 주면서 40khz 초음파 8번 발사되고 echo가 발생됨.</a:t>
            </a:r>
            <a:endParaRPr lang="en-US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echo 1이 발생하면서 response상태로 넘어가고 </a:t>
            </a:r>
            <a:r>
              <a:rPr lang="en-US"/>
              <a:t>58마이크로세컨드가 지날때마다 1cm 씩 거리가 증가함. 그러다가 echo가 0이 되면 거리 측정을 중단.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초음파 속도가 v = 340 m/s 이고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340 m/s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= 0.034 cm/µs 임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거 = 속x시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거리 = (0.034 cm/µs * 시간 ) / 2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1cm갔다오는데 58 마이크로세컨드 소요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734" name="Google Shape;734;g3e61982b481_0_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df7f514e6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버튼 r과 같은 트리거를 주면서 40khz 초음파 8번 발사되고 echo가 발생됨.</a:t>
            </a:r>
            <a:endParaRPr lang="en-US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b="1">
                <a:solidFill>
                  <a:schemeClr val="dk1"/>
                </a:solidFill>
              </a:rPr>
              <a:t>echo 1이 발생하면서 response상태로 넘어가고 </a:t>
            </a:r>
            <a:r>
              <a:rPr lang="en-US"/>
              <a:t>58마이크로세컨드가 지날때마다 1cm 씩 거리가 증가함. 그러다가 echo가 0이 되면 거리 측정을 중단.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초음파 속도가 v = 340 m/s 이고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340 m/s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= 0.034 cm/µs 임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거 = 속x시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거리 = (0.034 cm/µs * 시간 ) / 2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en-US"/>
              <a:t>1cm갔다오는데 58 마이크로세컨드 소요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751" name="Google Shape;751;g3df7f514e62_1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61982b481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AutoNum type="arabicParenR"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69" name="Google Shape;769;g3e61982b481_0_6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dbddf81f9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개괄적인것. sr04_start를 주고 trig가 올라가고 그 이후 에코 =1 이 됨. 그러다가 에코 = 0이 되고 거리 계산 끝남. </a:t>
            </a:r>
            <a:endParaRPr/>
          </a:p>
        </p:txBody>
      </p:sp>
      <p:sp>
        <p:nvSpPr>
          <p:cNvPr id="793" name="Google Shape;793;g3dbddf81f9d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dbddf81f9d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sr04start=1 되고나서 80마이크로세컨드  state = start로 넘어감. </a:t>
            </a:r>
            <a:r>
              <a:rPr lang="en-US">
                <a:solidFill>
                  <a:schemeClr val="dk1"/>
                </a:solidFill>
              </a:rPr>
              <a:t> 이후에 trig = 1 되면서 tick_마이크로 세컨드가 12번이 되면 </a:t>
            </a:r>
            <a:r>
              <a:rPr lang="en-US"/>
              <a:t>wait_st로 넘어감 </a:t>
            </a:r>
            <a:endParaRPr/>
          </a:p>
        </p:txBody>
      </p:sp>
      <p:sp>
        <p:nvSpPr>
          <p:cNvPr id="815" name="Google Shape;815;g3dbddf81f9d_2_5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dbddf81f9d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 wait_st되면 trig = 0 이 되고 (tb에서 내가 지정한 딜레이인 5만 나노) echo가 올라오고나서 response로 넘어감</a:t>
            </a:r>
            <a:endParaRPr/>
          </a:p>
        </p:txBody>
      </p:sp>
      <p:sp>
        <p:nvSpPr>
          <p:cNvPr id="846" name="Google Shape;846;g3dbddf81f9d_2_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bddf81f9d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response 개괄적으로 보여주기 다음슬라이드가 상세 </a:t>
            </a:r>
            <a:endParaRPr/>
          </a:p>
        </p:txBody>
      </p:sp>
      <p:sp>
        <p:nvSpPr>
          <p:cNvPr id="872" name="Google Shape;872;g3dbddf81f9d_2_9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dc288aeda7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첫번째: state 3  이 되면서 us_tick 증가하고 58번 될때마다 dist+1되는 로직. 두번째: counter_reg가 100번될때마다 1마이크로세컨드가 증가하며 그게 58번 됐을때 distance가 1이 됨. 세번째:에코가 0이 되면서 distance증가하는게 멈춤</a:t>
            </a:r>
            <a:endParaRPr/>
          </a:p>
        </p:txBody>
      </p:sp>
      <p:sp>
        <p:nvSpPr>
          <p:cNvPr id="891" name="Google Shape;891;g3dc288aeda7_1_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dc288aeda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DHT11은 Open-drain 인터페이스를 사용합니다. 실제 하드웨어에서는 외부에 장착된 풀업 저항이 신호를 잡아주기 때문에 항상 0또는 1로 안정적입니다. 하지만 시뮬레이션 환경에서는 이 물리적인 풀업 저항이 모델링되지 않았기 때문에 , fpga가 제어권을 놓는 찰나에 신호가 정의되지 않는 x 상태로 관찰되는 것입니다. 리는 로직의 오류가 아닌 하드웨어 규격을 정확히 다르는 과정에서 나타나는 시뮬레이션 상의 특징</a:t>
            </a:r>
            <a:endParaRPr/>
          </a:p>
        </p:txBody>
      </p:sp>
      <p:sp>
        <p:nvSpPr>
          <p:cNvPr id="916" name="Google Shape;916;g3dc288aeda7_0_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dbddf81f9d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DHT11이 미리 계산해서 넣은 값과 FPGA가 받은 데이터로 직접 계산한 값이 일치하면 데이터가 전송 중에 깨지지 않았다고 보장되는것</a:t>
            </a:r>
            <a:endParaRPr/>
          </a:p>
        </p:txBody>
      </p:sp>
      <p:sp>
        <p:nvSpPr>
          <p:cNvPr id="934" name="Google Shape;934;g3dbddf81f9d_0_6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dbddf81f9d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51" name="Google Shape;951;g3dbddf81f9d_4_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dbddf81f9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7" name="Google Shape;967;g3dbddf81f9d_0_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bddf81f9d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84" name="Google Shape;984;g3dbddf81f9d_4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dc288aeda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실제 하드웨어: 풀업 저항 → Z 구간도 HIGH 유지 → X 없음 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시뮬레이션: 풀업 없음 → Z 구간 = 아무도 구동 안함 → X 발생 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wait state의 30tick구간에서 발생하는 X에 대해 설명하겠습니다.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"실제 하드웨어의 Open-Drain 특성과 싱크로나이저의 전파 지연 현상을 명확히 관찰하기 위해 1'bz(High-Z) 상태를 그대로 유지하여 시뮬레이션하였습니다" 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 sz="1200">
                <a:solidFill>
                  <a:srgbClr val="121212"/>
                </a:solidFill>
              </a:rPr>
              <a:t>open drain은 low만 구동가능하고, 풀업저항은 아무도 low로 당기지 않을 때 high를 유지시켜주는 역할을 하는데 시뮬레이션 상에서는 fpga가 직접 high구간을 구동하기 때문에 신호가 low로 들어오더라도 low로 안떨어지고 x 상태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005" name="Google Shape;1005;g3dc288aeda7_0_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dc288aeda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26" name="Google Shape;1026;g3dc288aeda7_0_10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dc288aeda7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50" name="Google Shape;1050;g3dc288aeda7_0_1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dc288aeda7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74" name="Google Shape;1074;g3dc288aeda7_0_16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dc288aeda7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00" name="Google Shape;1100;g3dc288aeda7_0_2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dc288aeda7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31" name="Google Shape;1131;g3dc288aeda7_0_3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dc288aeda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54" name="Google Shape;1154;g3dc288aeda7_0_29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d96ba28e0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72" name="Google Shape;1172;g3d96ba28e0f_0_30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dc6eb7af1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>
                <a:solidFill>
                  <a:schemeClr val="dk1"/>
                </a:solidFill>
              </a:rPr>
              <a:t/>
            </a:r>
            <a:endParaRPr lang="ko-KR" altLang="en-US" b="1">
              <a:solidFill>
                <a:schemeClr val="dk1"/>
              </a:solidFill>
            </a:endParaRPr>
          </a:p>
        </p:txBody>
      </p:sp>
      <p:sp>
        <p:nvSpPr>
          <p:cNvPr id="1188" name="Google Shape;1188;g3dc6eb7af18_1_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d96ba28e0f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 b="1">
                <a:solidFill>
                  <a:schemeClr val="dk1"/>
                </a:solidFill>
              </a:rPr>
              <a:t/>
            </a:r>
            <a:endParaRPr lang="ko-KR" altLang="en-US" b="1">
              <a:solidFill>
                <a:schemeClr val="dk1"/>
              </a:solidFill>
            </a:endParaRPr>
          </a:p>
        </p:txBody>
      </p:sp>
      <p:sp>
        <p:nvSpPr>
          <p:cNvPr id="1216" name="Google Shape;1216;g3d96ba28e0f_0_2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3dc288aeda7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242" name="Google Shape;1242;g3dc288aeda7_0_4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4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69" name="Google Shape;1269;p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13" Type="http://schemas.openxmlformats.org/officeDocument/2006/relationships/image" Target="../media/image11.png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19.png"  /><Relationship Id="rId11" Type="http://schemas.openxmlformats.org/officeDocument/2006/relationships/image" Target="../media/image20.png"  /><Relationship Id="rId12" Type="http://schemas.openxmlformats.org/officeDocument/2006/relationships/image" Target="../media/image21.png"  /><Relationship Id="rId13" Type="http://schemas.openxmlformats.org/officeDocument/2006/relationships/image" Target="../media/image22.png"  /><Relationship Id="rId14" Type="http://schemas.openxmlformats.org/officeDocument/2006/relationships/image" Target="../media/image23.png"  /><Relationship Id="rId15" Type="http://schemas.openxmlformats.org/officeDocument/2006/relationships/image" Target="../media/image24.png"  /><Relationship Id="rId16" Type="http://schemas.openxmlformats.org/officeDocument/2006/relationships/image" Target="../media/image25.png"  /><Relationship Id="rId17" Type="http://schemas.openxmlformats.org/officeDocument/2006/relationships/image" Target="../media/image26.png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Relationship Id="rId6" Type="http://schemas.openxmlformats.org/officeDocument/2006/relationships/image" Target="../media/image15.png"  /><Relationship Id="rId7" Type="http://schemas.openxmlformats.org/officeDocument/2006/relationships/image" Target="../media/image16.png"  /><Relationship Id="rId8" Type="http://schemas.openxmlformats.org/officeDocument/2006/relationships/image" Target="../media/image17.png"  /><Relationship Id="rId9" Type="http://schemas.openxmlformats.org/officeDocument/2006/relationships/image" Target="../media/image18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33.png"  /><Relationship Id="rId12" Type="http://schemas.openxmlformats.org/officeDocument/2006/relationships/image" Target="../media/image34.png"  /><Relationship Id="rId13" Type="http://schemas.openxmlformats.org/officeDocument/2006/relationships/image" Target="../media/image35.png"  /><Relationship Id="rId14" Type="http://schemas.openxmlformats.org/officeDocument/2006/relationships/image" Target="../media/image36.png"  /><Relationship Id="rId15" Type="http://schemas.openxmlformats.org/officeDocument/2006/relationships/image" Target="../media/image37.png"  /><Relationship Id="rId16" Type="http://schemas.openxmlformats.org/officeDocument/2006/relationships/image" Target="../media/image38.png"  /><Relationship Id="rId17" Type="http://schemas.openxmlformats.org/officeDocument/2006/relationships/image" Target="../media/image39.png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27.png"  /><Relationship Id="rId4" Type="http://schemas.openxmlformats.org/officeDocument/2006/relationships/image" Target="../media/image1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1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46.png"  /><Relationship Id="rId11" Type="http://schemas.openxmlformats.org/officeDocument/2006/relationships/image" Target="../media/image47.png"  /><Relationship Id="rId12" Type="http://schemas.openxmlformats.org/officeDocument/2006/relationships/image" Target="../media/image48.png"  /><Relationship Id="rId13" Type="http://schemas.openxmlformats.org/officeDocument/2006/relationships/image" Target="../media/image49.png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0.png"  /><Relationship Id="rId4" Type="http://schemas.openxmlformats.org/officeDocument/2006/relationships/image" Target="../media/image41.png"  /><Relationship Id="rId5" Type="http://schemas.openxmlformats.org/officeDocument/2006/relationships/image" Target="../media/image42.png"  /><Relationship Id="rId6" Type="http://schemas.openxmlformats.org/officeDocument/2006/relationships/image" Target="../media/image43.png"  /><Relationship Id="rId7" Type="http://schemas.openxmlformats.org/officeDocument/2006/relationships/image" Target="../media/image44.png"  /><Relationship Id="rId8" Type="http://schemas.openxmlformats.org/officeDocument/2006/relationships/image" Target="../media/image45.png"  /><Relationship Id="rId9" Type="http://schemas.openxmlformats.org/officeDocument/2006/relationships/image" Target="../media/image3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7.png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59.png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60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61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61.png"  /><Relationship Id="rId13" Type="http://schemas.openxmlformats.org/officeDocument/2006/relationships/image" Target="../media/image58.png"  /><Relationship Id="rId14" Type="http://schemas.openxmlformats.org/officeDocument/2006/relationships/image" Target="../media/image62.png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63.png"  /><Relationship Id="rId13" Type="http://schemas.openxmlformats.org/officeDocument/2006/relationships/image" Target="../media/image64.png"  /><Relationship Id="rId14" Type="http://schemas.openxmlformats.org/officeDocument/2006/relationships/image" Target="../media/image58.png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65.png"  /><Relationship Id="rId14" Type="http://schemas.openxmlformats.org/officeDocument/2006/relationships/image" Target="../media/image66.png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67.png"  /><Relationship Id="rId14" Type="http://schemas.openxmlformats.org/officeDocument/2006/relationships/image" Target="../media/image68.png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69.png"  /><Relationship Id="rId14" Type="http://schemas.openxmlformats.org/officeDocument/2006/relationships/image" Target="../media/image70.png"  /><Relationship Id="rId15" Type="http://schemas.openxmlformats.org/officeDocument/2006/relationships/image" Target="../media/image71.png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72.png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3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4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5.png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6.png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7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78.png"  /><Relationship Id="rId13" Type="http://schemas.openxmlformats.org/officeDocument/2006/relationships/image" Target="../media/image79.png"  /><Relationship Id="rId14" Type="http://schemas.openxmlformats.org/officeDocument/2006/relationships/image" Target="../media/image58.png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80.png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88.png"  /><Relationship Id="rId2" Type="http://schemas.openxmlformats.org/officeDocument/2006/relationships/notesSlide" Target="../notesSlides/notesSlide23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89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24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0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25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1.png"  /><Relationship Id="rId13" Type="http://schemas.openxmlformats.org/officeDocument/2006/relationships/image" Target="../media/image58.png"  /><Relationship Id="rId2" Type="http://schemas.openxmlformats.org/officeDocument/2006/relationships/notesSlide" Target="../notesSlides/notesSlide26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2.png"  /><Relationship Id="rId13" Type="http://schemas.openxmlformats.org/officeDocument/2006/relationships/image" Target="../media/image93.png"  /><Relationship Id="rId14" Type="http://schemas.openxmlformats.org/officeDocument/2006/relationships/image" Target="../media/image58.png"  /><Relationship Id="rId2" Type="http://schemas.openxmlformats.org/officeDocument/2006/relationships/notesSlide" Target="../notesSlides/notesSlide27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58.png"  /><Relationship Id="rId13" Type="http://schemas.openxmlformats.org/officeDocument/2006/relationships/image" Target="../media/image94.png"  /><Relationship Id="rId2" Type="http://schemas.openxmlformats.org/officeDocument/2006/relationships/notesSlide" Target="../notesSlides/notesSlide28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5.png"  /><Relationship Id="rId2" Type="http://schemas.openxmlformats.org/officeDocument/2006/relationships/notesSlide" Target="../notesSlides/notesSlide29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6.png"  /><Relationship Id="rId13" Type="http://schemas.openxmlformats.org/officeDocument/2006/relationships/image" Target="../media/image97.png"  /><Relationship Id="rId14" Type="http://schemas.openxmlformats.org/officeDocument/2006/relationships/image" Target="../media/image98.png"  /><Relationship Id="rId2" Type="http://schemas.openxmlformats.org/officeDocument/2006/relationships/notesSlide" Target="../notesSlides/notesSlide30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99.png"  /><Relationship Id="rId2" Type="http://schemas.openxmlformats.org/officeDocument/2006/relationships/notesSlide" Target="../notesSlides/notesSlide31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100.png"  /><Relationship Id="rId2" Type="http://schemas.openxmlformats.org/officeDocument/2006/relationships/notesSlide" Target="../notesSlides/notesSlide32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87.png"  /><Relationship Id="rId11" Type="http://schemas.openxmlformats.org/officeDocument/2006/relationships/image" Target="../media/image32.png"  /><Relationship Id="rId12" Type="http://schemas.openxmlformats.org/officeDocument/2006/relationships/image" Target="../media/image101.png"  /><Relationship Id="rId2" Type="http://schemas.openxmlformats.org/officeDocument/2006/relationships/notesSlide" Target="../notesSlides/notesSlide33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02.png"  /><Relationship Id="rId2" Type="http://schemas.openxmlformats.org/officeDocument/2006/relationships/notesSlide" Target="../notesSlides/notesSlide34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03.png"  /><Relationship Id="rId13" Type="http://schemas.openxmlformats.org/officeDocument/2006/relationships/image" Target="../media/image104.png"  /><Relationship Id="rId14" Type="http://schemas.openxmlformats.org/officeDocument/2006/relationships/image" Target="../media/image105.png"  /><Relationship Id="rId2" Type="http://schemas.openxmlformats.org/officeDocument/2006/relationships/notesSlide" Target="../notesSlides/notesSlide35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106.png"  /><Relationship Id="rId14" Type="http://schemas.openxmlformats.org/officeDocument/2006/relationships/image" Target="../media/image107.png"  /><Relationship Id="rId2" Type="http://schemas.openxmlformats.org/officeDocument/2006/relationships/notesSlide" Target="../notesSlides/notesSlide36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08.png"  /><Relationship Id="rId13" Type="http://schemas.openxmlformats.org/officeDocument/2006/relationships/image" Target="../media/image109.png"  /><Relationship Id="rId14" Type="http://schemas.openxmlformats.org/officeDocument/2006/relationships/image" Target="../media/image110.png"  /><Relationship Id="rId2" Type="http://schemas.openxmlformats.org/officeDocument/2006/relationships/notesSlide" Target="../notesSlides/notesSlide37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11.png"  /><Relationship Id="rId13" Type="http://schemas.openxmlformats.org/officeDocument/2006/relationships/image" Target="../media/image112.png"  /><Relationship Id="rId14" Type="http://schemas.openxmlformats.org/officeDocument/2006/relationships/image" Target="../media/image113.png"  /><Relationship Id="rId2" Type="http://schemas.openxmlformats.org/officeDocument/2006/relationships/notesSlide" Target="../notesSlides/notesSlide38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14.png"  /><Relationship Id="rId13" Type="http://schemas.openxmlformats.org/officeDocument/2006/relationships/image" Target="../media/image115.png"  /><Relationship Id="rId14" Type="http://schemas.openxmlformats.org/officeDocument/2006/relationships/image" Target="../media/image116.png"  /><Relationship Id="rId2" Type="http://schemas.openxmlformats.org/officeDocument/2006/relationships/notesSlide" Target="../notesSlides/notesSlide39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14.png"  /><Relationship Id="rId13" Type="http://schemas.openxmlformats.org/officeDocument/2006/relationships/image" Target="../media/image58.png"  /><Relationship Id="rId14" Type="http://schemas.openxmlformats.org/officeDocument/2006/relationships/image" Target="../media/image117.png"  /><Relationship Id="rId15" Type="http://schemas.openxmlformats.org/officeDocument/2006/relationships/image" Target="../media/image118.png"  /><Relationship Id="rId2" Type="http://schemas.openxmlformats.org/officeDocument/2006/relationships/notesSlide" Target="../notesSlides/notesSlide40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58.png"  /><Relationship Id="rId13" Type="http://schemas.openxmlformats.org/officeDocument/2006/relationships/image" Target="../media/image119.png"  /><Relationship Id="rId2" Type="http://schemas.openxmlformats.org/officeDocument/2006/relationships/notesSlide" Target="../notesSlides/notesSlide41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56.png"  /><Relationship Id="rId12" Type="http://schemas.openxmlformats.org/officeDocument/2006/relationships/image" Target="../media/image120.png"  /><Relationship Id="rId13" Type="http://schemas.openxmlformats.org/officeDocument/2006/relationships/image" Target="../media/image121.png"  /><Relationship Id="rId2" Type="http://schemas.openxmlformats.org/officeDocument/2006/relationships/notesSlide" Target="../notesSlides/notesSlide42.xml"  /><Relationship Id="rId3" Type="http://schemas.openxmlformats.org/officeDocument/2006/relationships/image" Target="../media/image50.png"  /><Relationship Id="rId4" Type="http://schemas.openxmlformats.org/officeDocument/2006/relationships/image" Target="../media/image51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18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video" Target="../media/unknown1.mp4"  /><Relationship Id="rId13" Type="http://schemas.microsoft.com/office/2007/relationships/media" Target="../media/unknown1.mp4"  /><Relationship Id="rId14" Type="http://schemas.openxmlformats.org/officeDocument/2006/relationships/image" Target="../media/image122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hyperlink" Target="http://www.youtube.com/watch?v=caw8XV_HsFs" TargetMode="External" /><Relationship Id="rId13" Type="http://schemas.openxmlformats.org/officeDocument/2006/relationships/image" Target="../media/image123.jpeg"  /><Relationship Id="rId14" Type="http://schemas.openxmlformats.org/officeDocument/2006/relationships/image" Target="../media/image124.png"  /><Relationship Id="rId15" Type="http://schemas.openxmlformats.org/officeDocument/2006/relationships/image" Target="../media/image125.png"  /><Relationship Id="rId16" Type="http://schemas.openxmlformats.org/officeDocument/2006/relationships/hyperlink" Target="http://www.youtube.com/watch?v=0_5mAVtKhI0" TargetMode="External" /><Relationship Id="rId17" Type="http://schemas.openxmlformats.org/officeDocument/2006/relationships/image" Target="../media/image126.jpeg"  /><Relationship Id="rId2" Type="http://schemas.openxmlformats.org/officeDocument/2006/relationships/notesSlide" Target="../notesSlides/notesSlide44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87.png"  /><Relationship Id="rId12" Type="http://schemas.openxmlformats.org/officeDocument/2006/relationships/image" Target="../media/image124.png"  /><Relationship Id="rId13" Type="http://schemas.openxmlformats.org/officeDocument/2006/relationships/image" Target="../media/image125.png"  /><Relationship Id="rId14" Type="http://schemas.openxmlformats.org/officeDocument/2006/relationships/hyperlink" Target="http://drive.google.com/file/d/1CIS_Hvlluw2UqYHEWMNjlRGLdGeL2J7c/view" TargetMode="External" /><Relationship Id="rId15" Type="http://schemas.openxmlformats.org/officeDocument/2006/relationships/image" Target="../media/image127.jpeg"  /><Relationship Id="rId2" Type="http://schemas.openxmlformats.org/officeDocument/2006/relationships/notesSlide" Target="../notesSlides/notesSlide45.xml"  /><Relationship Id="rId3" Type="http://schemas.openxmlformats.org/officeDocument/2006/relationships/image" Target="../media/image81.png"  /><Relationship Id="rId4" Type="http://schemas.openxmlformats.org/officeDocument/2006/relationships/image" Target="../media/image82.png"  /><Relationship Id="rId5" Type="http://schemas.openxmlformats.org/officeDocument/2006/relationships/image" Target="../media/image83.png"  /><Relationship Id="rId6" Type="http://schemas.openxmlformats.org/officeDocument/2006/relationships/image" Target="../media/image84.png"  /><Relationship Id="rId7" Type="http://schemas.openxmlformats.org/officeDocument/2006/relationships/image" Target="../media/image85.png"  /><Relationship Id="rId8" Type="http://schemas.openxmlformats.org/officeDocument/2006/relationships/image" Target="../media/image86.png"  /><Relationship Id="rId9" Type="http://schemas.openxmlformats.org/officeDocument/2006/relationships/image" Target="../media/image18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2.png"  /><Relationship Id="rId11" Type="http://schemas.openxmlformats.org/officeDocument/2006/relationships/image" Target="../media/image33.png"  /><Relationship Id="rId12" Type="http://schemas.openxmlformats.org/officeDocument/2006/relationships/image" Target="../media/image34.png"  /><Relationship Id="rId2" Type="http://schemas.openxmlformats.org/officeDocument/2006/relationships/notesSlide" Target="../notesSlides/notesSlide46.xml"  /><Relationship Id="rId3" Type="http://schemas.openxmlformats.org/officeDocument/2006/relationships/image" Target="../media/image27.png"  /><Relationship Id="rId4" Type="http://schemas.openxmlformats.org/officeDocument/2006/relationships/image" Target="../media/image1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18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134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13" Type="http://schemas.openxmlformats.org/officeDocument/2006/relationships/image" Target="../media/image11.png"  /><Relationship Id="rId14" Type="http://schemas.openxmlformats.org/officeDocument/2006/relationships/image" Target="../media/image135.png"  /><Relationship Id="rId2" Type="http://schemas.openxmlformats.org/officeDocument/2006/relationships/notesSlide" Target="../notesSlides/notesSlide47.xml"  /><Relationship Id="rId3" Type="http://schemas.openxmlformats.org/officeDocument/2006/relationships/image" Target="../media/image128.png"  /><Relationship Id="rId4" Type="http://schemas.openxmlformats.org/officeDocument/2006/relationships/image" Target="../media/image129.png"  /><Relationship Id="rId5" Type="http://schemas.openxmlformats.org/officeDocument/2006/relationships/image" Target="../media/image3.png"  /><Relationship Id="rId6" Type="http://schemas.openxmlformats.org/officeDocument/2006/relationships/image" Target="../media/image130.png"  /><Relationship Id="rId7" Type="http://schemas.openxmlformats.org/officeDocument/2006/relationships/image" Target="../media/image131.png"  /><Relationship Id="rId8" Type="http://schemas.openxmlformats.org/officeDocument/2006/relationships/image" Target="../media/image132.png"  /><Relationship Id="rId9" Type="http://schemas.openxmlformats.org/officeDocument/2006/relationships/image" Target="../media/image133.png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E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800" y="1447800"/>
            <a:ext cx="20954998" cy="12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01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9182100"/>
            <a:ext cx="22415499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960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1800" y="1651000"/>
            <a:ext cx="20954998" cy="1206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1800" y="1854200"/>
            <a:ext cx="20954998" cy="118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84200" y="15494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1800" y="1921350"/>
            <a:ext cx="20954998" cy="117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100" y="11772900"/>
            <a:ext cx="22529799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83400" y="12331700"/>
            <a:ext cx="5334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1100" y="13106400"/>
            <a:ext cx="9867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4508500" y="3733800"/>
            <a:ext cx="1539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150" lIns="0" spcFirstLastPara="1" rIns="0" wrap="square" tIns="1671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545454"/>
                </a:solidFill>
              </a:rPr>
              <a:t>PC-UART 통신 기반 </a:t>
            </a:r>
            <a:br>
              <a:rPr lang="en-US" sz="8000">
                <a:solidFill>
                  <a:srgbClr val="545454"/>
                </a:solidFill>
              </a:rPr>
            </a:br>
            <a:r>
              <a:rPr lang="en-US" sz="8000">
                <a:solidFill>
                  <a:srgbClr val="545454"/>
                </a:solidFill>
              </a:rPr>
              <a:t>FPGA 제어 시스템 </a:t>
            </a:r>
            <a:endParaRPr b="0" i="0" sz="4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235700" y="8077200"/>
            <a:ext cx="119127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975" lIns="0" spcFirstLastPara="1" rIns="0" wrap="square" tIns="679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>
                <a:solidFill>
                  <a:srgbClr val="545454"/>
                </a:solidFill>
              </a:rPr>
              <a:t>Stopwatch·Watch·Sensor 제어 및 PC 통신 구현  </a:t>
            </a:r>
            <a:endParaRPr b="0" i="0" sz="32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200">
                <a:solidFill>
                  <a:srgbClr val="545454"/>
                </a:solidFill>
              </a:rPr>
              <a:t>8조 : 김한림, 김예담, 이찬미</a:t>
            </a:r>
            <a:endParaRPr sz="3200">
              <a:solidFill>
                <a:srgbClr val="545454"/>
              </a:solidFill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2026.0</a:t>
            </a:r>
            <a:r>
              <a:rPr lang="en-US" sz="3200">
                <a:solidFill>
                  <a:srgbClr val="545454"/>
                </a:solidFill>
              </a:rPr>
              <a:t>5.06</a:t>
            </a:r>
            <a:br>
              <a:rPr lang="en-US" sz="3000">
                <a:solidFill>
                  <a:srgbClr val="545454"/>
                </a:solidFill>
              </a:rPr>
            </a:br>
            <a:endParaRPr b="0" i="0" sz="30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658100" y="12458700"/>
            <a:ext cx="97409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25" lIns="0" spcFirstLastPara="1" rIns="0" wrap="square" tIns="31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온디바이스 AI 2기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80664"/>
            <a:ext cx="22402799" cy="1127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055100" y="2247900"/>
            <a:ext cx="628650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825" lIns="0" spcFirstLastPara="1" rIns="0" wrap="square" tIns="1648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78"/>
              <a:buFont typeface="Arial"/>
              <a:buNone/>
            </a:pPr>
            <a:r>
              <a:rPr b="0" i="0" lang="en-US" sz="12979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5664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220641" y="4902200"/>
            <a:ext cx="5321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프로젝트 개요 및 목적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74295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5187950" y="6646750"/>
            <a:ext cx="69447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1"/>
              <a:buFont typeface="Arial"/>
              <a:buNone/>
            </a:pPr>
            <a:r>
              <a:rPr lang="en-US" sz="3092">
                <a:solidFill>
                  <a:srgbClr val="545454"/>
                </a:solidFill>
              </a:rPr>
              <a:t>UART 통신 규격 및 전체 시스템 구조</a:t>
            </a:r>
            <a:r>
              <a:rPr lang="en-US" sz="3792">
                <a:solidFill>
                  <a:srgbClr val="545454"/>
                </a:solidFill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91948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224169" y="8432800"/>
            <a:ext cx="60198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UART-FIFO 기반 PC 통신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10998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5200568" y="10223500"/>
            <a:ext cx="6648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Control Unit 및 SR04 제어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46500" y="4953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3822700" y="52578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46500" y="67056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3822700" y="6997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84836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3797300" y="8775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21100" y="10287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3797300" y="105791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5664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14436450" y="4902200"/>
            <a:ext cx="73125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DHT11 제어 및 FND Controller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74295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14505750" y="6667550"/>
            <a:ext cx="5321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구현 결과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91948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 txBox="1"/>
          <p:nvPr/>
        </p:nvSpPr>
        <p:spPr>
          <a:xfrm>
            <a:off x="14505750" y="8458225"/>
            <a:ext cx="5321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lang="en-US" sz="3592">
                <a:solidFill>
                  <a:srgbClr val="545454"/>
                </a:solidFill>
              </a:rPr>
              <a:t>Troubleshooting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890500" y="4953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12966700" y="52451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890500" y="66929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12966700" y="6997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877800" y="84709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12941300" y="8775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110109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"/>
          <p:cNvSpPr txBox="1"/>
          <p:nvPr/>
        </p:nvSpPr>
        <p:spPr>
          <a:xfrm>
            <a:off x="14505750" y="10248900"/>
            <a:ext cx="5321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5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결론 및 고찰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877800" y="10287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/>
          <p:nvPr/>
        </p:nvSpPr>
        <p:spPr>
          <a:xfrm>
            <a:off x="12941300" y="10591800"/>
            <a:ext cx="1269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4933">
                <a:solidFill>
                  <a:srgbClr val="545454"/>
                </a:solidFill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800" cy="112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프로젝트 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개요 및 목적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60700" y="5354375"/>
            <a:ext cx="5778500" cy="6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75200" y="5637902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4076650" y="8093138"/>
            <a:ext cx="3771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lang="en-US" sz="3710">
                <a:solidFill>
                  <a:srgbClr val="545454"/>
                </a:solidFill>
              </a:rPr>
              <a:t>PC - FPGA 통신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2987350" y="8615350"/>
            <a:ext cx="5778600" cy="3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- UART 기반 양방향 통신 구현</a:t>
            </a:r>
            <a:endParaRPr sz="2431">
              <a:solidFill>
                <a:srgbClr val="545454"/>
              </a:solidFill>
            </a:endParaRPr>
          </a:p>
          <a:p>
            <a:pPr indent="0" lvl="0" marL="45720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- PC 명령어로 FPGA 모드 및 입력 제어</a:t>
            </a:r>
            <a:endParaRPr sz="2431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1">
                <a:solidFill>
                  <a:srgbClr val="545454"/>
                </a:solidFill>
              </a:rPr>
              <a:t>- 현재 상태와 센서 데이터를 PC로 전송  </a:t>
            </a:r>
            <a:endParaRPr sz="2431">
              <a:solidFill>
                <a:srgbClr val="545454"/>
              </a:solidFill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09100" y="5354375"/>
            <a:ext cx="5778500" cy="6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023600" y="5637902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10269425" y="8093150"/>
            <a:ext cx="3771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lang="en-US" sz="3710">
                <a:solidFill>
                  <a:srgbClr val="545454"/>
                </a:solidFill>
              </a:rPr>
              <a:t>다중 기능 통합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9811200" y="8753450"/>
            <a:ext cx="4761600" cy="27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- Stopwatch / Watch 기능 통합</a:t>
            </a:r>
            <a:endParaRPr sz="2431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- 초음파, 온습도 센서 연동</a:t>
            </a:r>
            <a:endParaRPr sz="2431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1">
                <a:solidFill>
                  <a:srgbClr val="545454"/>
                </a:solidFill>
              </a:rPr>
              <a:t>- FND를 통한 모드별 데이터 표시 </a:t>
            </a:r>
            <a:endParaRPr sz="2431">
              <a:solidFill>
                <a:srgbClr val="545454"/>
              </a:solidFill>
            </a:endParaRPr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544800" y="5354375"/>
            <a:ext cx="5778500" cy="68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7272000" y="5637902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16250050" y="8093150"/>
            <a:ext cx="4606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lang="en-US" sz="3710">
                <a:solidFill>
                  <a:srgbClr val="545454"/>
                </a:solidFill>
              </a:rPr>
              <a:t>통합 제어 환경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5672050" y="9220600"/>
            <a:ext cx="4953300" cy="20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1">
                <a:solidFill>
                  <a:srgbClr val="545454"/>
                </a:solidFill>
              </a:rPr>
              <a:t>- ASCII 명령어 기반 원격 제어</a:t>
            </a:r>
            <a:endParaRPr sz="2431">
              <a:solidFill>
                <a:srgbClr val="545454"/>
              </a:solidFill>
            </a:endParaRPr>
          </a:p>
          <a:p>
            <a:pPr indent="0" lvl="0" marL="45720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1">
                <a:solidFill>
                  <a:srgbClr val="545454"/>
                </a:solidFill>
              </a:rPr>
              <a:t>- UART/FIFO를 통한 안정적인 데이터 처리</a:t>
            </a:r>
            <a:endParaRPr sz="2431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1">
                <a:solidFill>
                  <a:srgbClr val="545454"/>
                </a:solidFill>
              </a:rPr>
              <a:t>- PC 입력과 FPGA 물리 입력 병합 </a:t>
            </a:r>
            <a:endParaRPr sz="2431">
              <a:solidFill>
                <a:srgbClr val="545454"/>
              </a:solidFill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5663375" y="6399102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11898675" y="6399102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18133975" y="6399102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178875" y="4545525"/>
            <a:ext cx="196701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545454"/>
                </a:solidFill>
              </a:rPr>
              <a:t>UART 통신을 기반으로 PC와 FPGA를 연동하여, 시간 기능과 센서 데이터를 통합 제어·모니터링하는 시스템을 구현하였습니다. 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900" y="1574800"/>
            <a:ext cx="22402800" cy="112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UART 통신 규격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10"/>
          <p:cNvGraphicFramePr/>
          <p:nvPr/>
        </p:nvGraphicFramePr>
        <p:xfrm>
          <a:off x="2463800" y="561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4269350"/>
                <a:gridCol w="5446150"/>
                <a:gridCol w="9271000"/>
              </a:tblGrid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항목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설정 값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상세 설명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System Clock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100 MHz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FPGA 시스템 메인 클럭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Baud Rate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9600 bps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 bit period = 10,417 Clocks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Oversampling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16x Oversampling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Bit-center sampling at 8th tick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Data </a:t>
                      </a: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Format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8-N-1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8 Data bits, No Parity, 1 Stop bit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Bit Order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LSB first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최하위 비트(bit 0)부터 순차 전송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189" name="Google Shape;18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00330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12776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89027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33858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304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22428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67386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79705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55956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10800000">
            <a:off x="15722600" y="11671300"/>
            <a:ext cx="23749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200787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213233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89484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10800000">
            <a:off x="19075400" y="11671300"/>
            <a:ext cx="2374900" cy="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d945aabcb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39635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945aabcb5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d945aabcb5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945aabcb5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50" y="159955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945aabcb5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181545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d945aabcb5_0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d945aabcb5_0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20440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d945aabcb5_0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d945aabcb5_0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945aabcb5_0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945aabcb5_0_1"/>
          <p:cNvSpPr txBox="1"/>
          <p:nvPr/>
        </p:nvSpPr>
        <p:spPr>
          <a:xfrm>
            <a:off x="7467600" y="2336800"/>
            <a:ext cx="12331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rm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전체 Block diagram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d945aabcb5_0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55800" y="4534882"/>
            <a:ext cx="15170150" cy="80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d945aabcb5_0_1"/>
          <p:cNvSpPr txBox="1"/>
          <p:nvPr/>
        </p:nvSpPr>
        <p:spPr>
          <a:xfrm>
            <a:off x="3371600" y="60400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945aabcb5_0_1"/>
          <p:cNvSpPr txBox="1"/>
          <p:nvPr/>
        </p:nvSpPr>
        <p:spPr>
          <a:xfrm>
            <a:off x="9850475" y="55457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945aabcb5_0_1"/>
          <p:cNvSpPr txBox="1"/>
          <p:nvPr/>
        </p:nvSpPr>
        <p:spPr>
          <a:xfrm>
            <a:off x="12698200" y="686227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945aabcb5_0_1"/>
          <p:cNvSpPr txBox="1"/>
          <p:nvPr/>
        </p:nvSpPr>
        <p:spPr>
          <a:xfrm>
            <a:off x="16084400" y="64179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g3d945aabcb5_0_1"/>
          <p:cNvGraphicFramePr/>
          <p:nvPr/>
        </p:nvGraphicFramePr>
        <p:xfrm>
          <a:off x="17125950" y="662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878600"/>
                <a:gridCol w="1184150"/>
                <a:gridCol w="3907675"/>
              </a:tblGrid>
              <a:tr h="89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번호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구분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주요 기능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9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①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UART 통신부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PC 명령어 수신 및 </a:t>
                      </a:r>
                      <a:br>
                        <a:rPr lang="en-US" sz="2300"/>
                      </a:br>
                      <a:r>
                        <a:rPr lang="en-US" sz="2300"/>
                        <a:t>상태 데이터 송신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9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②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시스템 제어부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모드 선택 및 제어 신호 생성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9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③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기능 모듈부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시간/거리/온습도 데이터 생성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4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④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출력부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FND 표시 제어</a:t>
                      </a:r>
                      <a:endParaRPr sz="2300"/>
                    </a:p>
                  </a:txBody>
                  <a:tcPr marT="91425" marB="91425" marR="91425" marL="914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dc288aeda7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39635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dc288aeda7_4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dc288aeda7_4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dc288aeda7_4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50" y="159955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dc288aeda7_4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181545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dc288aeda7_4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dc288aeda7_4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4250" y="20440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dc288aeda7_4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dc288aeda7_4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dc288aeda7_4_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dc288aeda7_4_0"/>
          <p:cNvSpPr txBox="1"/>
          <p:nvPr/>
        </p:nvSpPr>
        <p:spPr>
          <a:xfrm>
            <a:off x="7467600" y="2336800"/>
            <a:ext cx="12331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rmAutofit fontScale="92500"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UART 기반 PC-FPGA 통신 구조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g3dc288aeda7_4_0"/>
          <p:cNvGrpSpPr/>
          <p:nvPr/>
        </p:nvGrpSpPr>
        <p:grpSpPr>
          <a:xfrm>
            <a:off x="18330303" y="5759706"/>
            <a:ext cx="3194558" cy="1518856"/>
            <a:chOff x="7260157" y="11064798"/>
            <a:chExt cx="5388930" cy="1208414"/>
          </a:xfrm>
        </p:grpSpPr>
        <p:pic>
          <p:nvPicPr>
            <p:cNvPr id="240" name="Google Shape;240;g3dc288aeda7_4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60157" y="11064798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g3dc288aeda7_4_0"/>
            <p:cNvSpPr txBox="1"/>
            <p:nvPr/>
          </p:nvSpPr>
          <p:spPr>
            <a:xfrm>
              <a:off x="7420987" y="11216817"/>
              <a:ext cx="52281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150" lIns="0" spcFirstLastPara="1" rIns="0" wrap="square" tIns="136150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93"/>
                <a:buFont typeface="Arial"/>
                <a:buNone/>
              </a:pPr>
              <a:r>
                <a:rPr b="1" lang="en-US" sz="2050">
                  <a:solidFill>
                    <a:srgbClr val="545454"/>
                  </a:solidFill>
                </a:rPr>
                <a:t>ASCII Decoder Output</a:t>
              </a:r>
              <a:endParaRPr b="1" sz="2050">
                <a:solidFill>
                  <a:srgbClr val="545454"/>
                </a:solidFill>
              </a:endParaRPr>
            </a:p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93"/>
                <a:buFont typeface="Arial"/>
                <a:buNone/>
              </a:pPr>
              <a:r>
                <a:rPr lang="en-US" sz="2050">
                  <a:solidFill>
                    <a:srgbClr val="545454"/>
                  </a:solidFill>
                </a:rPr>
                <a:t>가상 스위치, 버튼</a:t>
              </a:r>
              <a:endParaRPr sz="2050">
                <a:solidFill>
                  <a:srgbClr val="545454"/>
                </a:solidFill>
              </a:endParaRPr>
            </a:p>
          </p:txBody>
        </p:sp>
      </p:grpSp>
      <p:grpSp>
        <p:nvGrpSpPr>
          <p:cNvPr id="242" name="Google Shape;242;g3dc288aeda7_4_0"/>
          <p:cNvGrpSpPr/>
          <p:nvPr/>
        </p:nvGrpSpPr>
        <p:grpSpPr>
          <a:xfrm>
            <a:off x="18330303" y="9108231"/>
            <a:ext cx="3194558" cy="1518856"/>
            <a:chOff x="7260157" y="11064798"/>
            <a:chExt cx="5388930" cy="1208414"/>
          </a:xfrm>
        </p:grpSpPr>
        <p:pic>
          <p:nvPicPr>
            <p:cNvPr id="243" name="Google Shape;243;g3dc288aeda7_4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60157" y="11064798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g3dc288aeda7_4_0"/>
            <p:cNvSpPr txBox="1"/>
            <p:nvPr/>
          </p:nvSpPr>
          <p:spPr>
            <a:xfrm>
              <a:off x="7420987" y="11216817"/>
              <a:ext cx="52281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150" lIns="0" spcFirstLastPara="1" rIns="0" wrap="square" tIns="136150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93"/>
                <a:buFont typeface="Arial"/>
                <a:buNone/>
              </a:pPr>
              <a:r>
                <a:rPr b="1" lang="en-US" sz="2050">
                  <a:solidFill>
                    <a:srgbClr val="545454"/>
                  </a:solidFill>
                </a:rPr>
                <a:t>ASCII Sender Input</a:t>
              </a:r>
              <a:endParaRPr b="1" sz="2050">
                <a:solidFill>
                  <a:srgbClr val="545454"/>
                </a:solidFill>
              </a:endParaRPr>
            </a:p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393"/>
                <a:buFont typeface="Arial"/>
                <a:buNone/>
              </a:pPr>
              <a:r>
                <a:rPr lang="en-US" sz="2050">
                  <a:solidFill>
                    <a:srgbClr val="545454"/>
                  </a:solidFill>
                </a:rPr>
                <a:t>현재 모드, 데이터</a:t>
              </a:r>
              <a:endParaRPr sz="2050">
                <a:solidFill>
                  <a:srgbClr val="545454"/>
                </a:solidFill>
              </a:endParaRPr>
            </a:p>
          </p:txBody>
        </p:sp>
      </p:grpSp>
      <p:pic>
        <p:nvPicPr>
          <p:cNvPr id="245" name="Google Shape;245;g3dc288aeda7_4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78800" y="5028314"/>
            <a:ext cx="12273951" cy="663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g3dc288aeda7_4_0"/>
          <p:cNvGrpSpPr/>
          <p:nvPr/>
        </p:nvGrpSpPr>
        <p:grpSpPr>
          <a:xfrm>
            <a:off x="3808803" y="4419711"/>
            <a:ext cx="6368871" cy="951801"/>
            <a:chOff x="6958900" y="10917508"/>
            <a:chExt cx="5228100" cy="1249575"/>
          </a:xfrm>
        </p:grpSpPr>
        <p:pic>
          <p:nvPicPr>
            <p:cNvPr id="247" name="Google Shape;247;g3dc288aeda7_4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958968" y="10917508"/>
              <a:ext cx="5227956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g3dc288aeda7_4_0"/>
            <p:cNvSpPr txBox="1"/>
            <p:nvPr/>
          </p:nvSpPr>
          <p:spPr>
            <a:xfrm>
              <a:off x="6958900" y="11212134"/>
              <a:ext cx="52281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882"/>
                <a:buFont typeface="Arial"/>
                <a:buNone/>
              </a:pPr>
              <a:r>
                <a:rPr lang="en-US" sz="3400">
                  <a:solidFill>
                    <a:srgbClr val="545454"/>
                  </a:solidFill>
                </a:rPr>
                <a:t>RX path : PC =&gt; FPGA 제어</a:t>
              </a:r>
              <a:endParaRPr b="0" i="0" sz="34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g3dc288aeda7_4_0"/>
          <p:cNvGrpSpPr/>
          <p:nvPr/>
        </p:nvGrpSpPr>
        <p:grpSpPr>
          <a:xfrm>
            <a:off x="10696102" y="11094868"/>
            <a:ext cx="4293105" cy="1020264"/>
            <a:chOff x="7260157" y="11256012"/>
            <a:chExt cx="5118762" cy="1208414"/>
          </a:xfrm>
        </p:grpSpPr>
        <p:pic>
          <p:nvPicPr>
            <p:cNvPr id="250" name="Google Shape;250;g3dc288aeda7_4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g3dc288aeda7_4_0"/>
            <p:cNvSpPr txBox="1"/>
            <p:nvPr/>
          </p:nvSpPr>
          <p:spPr>
            <a:xfrm>
              <a:off x="7323019" y="11425688"/>
              <a:ext cx="5055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1998">
                  <a:solidFill>
                    <a:srgbClr val="545454"/>
                  </a:solidFill>
                </a:rPr>
                <a:t>FIFO TX Buffer </a:t>
              </a:r>
              <a:endParaRPr b="1" sz="1998">
                <a:solidFill>
                  <a:srgbClr val="545454"/>
                </a:solidFill>
              </a:endParaRPr>
            </a:p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lang="en-US" sz="1998">
                  <a:solidFill>
                    <a:srgbClr val="545454"/>
                  </a:solidFill>
                </a:rPr>
                <a:t>데이터 문자열을 UART TX로 순차 전달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grpSp>
        <p:nvGrpSpPr>
          <p:cNvPr id="252" name="Google Shape;252;g3dc288aeda7_4_0"/>
          <p:cNvGrpSpPr/>
          <p:nvPr/>
        </p:nvGrpSpPr>
        <p:grpSpPr>
          <a:xfrm>
            <a:off x="10821102" y="4351268"/>
            <a:ext cx="4293105" cy="1020264"/>
            <a:chOff x="7260157" y="11256012"/>
            <a:chExt cx="5118762" cy="1208414"/>
          </a:xfrm>
        </p:grpSpPr>
        <p:pic>
          <p:nvPicPr>
            <p:cNvPr id="253" name="Google Shape;253;g3dc288aeda7_4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g3dc288aeda7_4_0"/>
            <p:cNvSpPr txBox="1"/>
            <p:nvPr/>
          </p:nvSpPr>
          <p:spPr>
            <a:xfrm>
              <a:off x="7323019" y="11425688"/>
              <a:ext cx="5055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1998">
                  <a:solidFill>
                    <a:srgbClr val="545454"/>
                  </a:solidFill>
                </a:rPr>
                <a:t>FIFO RX Buffer </a:t>
              </a:r>
              <a:endParaRPr b="1" sz="1998">
                <a:solidFill>
                  <a:srgbClr val="545454"/>
                </a:solidFill>
              </a:endParaRPr>
            </a:p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lang="en-US" sz="1998">
                  <a:solidFill>
                    <a:srgbClr val="545454"/>
                  </a:solidFill>
                </a:rPr>
                <a:t>PC 명령어를 Decoder로 순차 전달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pic>
        <p:nvPicPr>
          <p:cNvPr id="255" name="Google Shape;255;g3dc288aeda7_4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7850" y="11128750"/>
            <a:ext cx="6671251" cy="9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dc288aeda7_4_0"/>
          <p:cNvSpPr txBox="1"/>
          <p:nvPr/>
        </p:nvSpPr>
        <p:spPr>
          <a:xfrm>
            <a:off x="3809012" y="11353100"/>
            <a:ext cx="63690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325" lIns="0" spcFirstLastPara="1" rIns="0" wrap="square" tIns="1083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82"/>
              <a:buFont typeface="Arial"/>
              <a:buNone/>
            </a:pPr>
            <a:r>
              <a:rPr lang="en-US" sz="3400">
                <a:solidFill>
                  <a:srgbClr val="545454"/>
                </a:solidFill>
              </a:rPr>
              <a:t>TX path : FPGA 상태 =&gt; PC 출력</a:t>
            </a:r>
            <a:endParaRPr b="0" i="0" sz="34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dc6eb7af18_7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39635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dc6eb7af18_7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dc6eb7af18_7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dc6eb7af18_7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50" y="159955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dc6eb7af18_7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181545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dc6eb7af18_7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dc6eb7af18_7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20440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dc6eb7af18_7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dc6eb7af18_7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dc6eb7af18_7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dc6eb7af18_7_1"/>
          <p:cNvSpPr txBox="1"/>
          <p:nvPr/>
        </p:nvSpPr>
        <p:spPr>
          <a:xfrm>
            <a:off x="7460825" y="2336800"/>
            <a:ext cx="12331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rm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UART RX - FIFO 동작 흐름 </a:t>
            </a:r>
            <a:r>
              <a:rPr lang="en-US" sz="7200">
                <a:solidFill>
                  <a:srgbClr val="545454"/>
                </a:solidFill>
              </a:rPr>
              <a:t>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c6eb7af18_7_1"/>
          <p:cNvSpPr txBox="1"/>
          <p:nvPr/>
        </p:nvSpPr>
        <p:spPr>
          <a:xfrm>
            <a:off x="7215515" y="6047500"/>
            <a:ext cx="16506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rx_done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g3dc6eb7af18_7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41225" y="4419700"/>
            <a:ext cx="9931301" cy="856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g3dc6eb7af18_7_1"/>
          <p:cNvCxnSpPr/>
          <p:nvPr/>
        </p:nvCxnSpPr>
        <p:spPr>
          <a:xfrm>
            <a:off x="7673100" y="4740150"/>
            <a:ext cx="2700" cy="779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5" name="Google Shape;275;g3dc6eb7af18_7_1"/>
          <p:cNvSpPr txBox="1"/>
          <p:nvPr/>
        </p:nvSpPr>
        <p:spPr>
          <a:xfrm>
            <a:off x="6361713" y="6142075"/>
            <a:ext cx="1409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rx_done</a:t>
            </a:r>
            <a:endParaRPr sz="2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g3dc6eb7af18_7_1"/>
          <p:cNvCxnSpPr/>
          <p:nvPr/>
        </p:nvCxnSpPr>
        <p:spPr>
          <a:xfrm>
            <a:off x="8202570" y="4803702"/>
            <a:ext cx="11100" cy="78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7" name="Google Shape;277;g3dc6eb7af18_7_1"/>
          <p:cNvSpPr txBox="1"/>
          <p:nvPr/>
        </p:nvSpPr>
        <p:spPr>
          <a:xfrm>
            <a:off x="7460825" y="8594925"/>
            <a:ext cx="965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sz="2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c6eb7af18_7_1"/>
          <p:cNvSpPr/>
          <p:nvPr/>
        </p:nvSpPr>
        <p:spPr>
          <a:xfrm>
            <a:off x="7838075" y="6703875"/>
            <a:ext cx="210600" cy="2062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g3dc6eb7af18_7_1"/>
          <p:cNvCxnSpPr/>
          <p:nvPr/>
        </p:nvCxnSpPr>
        <p:spPr>
          <a:xfrm>
            <a:off x="8746143" y="4740150"/>
            <a:ext cx="3600" cy="7903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0" name="Google Shape;280;g3dc6eb7af18_7_1"/>
          <p:cNvSpPr txBox="1"/>
          <p:nvPr/>
        </p:nvSpPr>
        <p:spPr>
          <a:xfrm>
            <a:off x="8746150" y="11914200"/>
            <a:ext cx="380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push_data= 30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dc6eb7af18_7_1"/>
          <p:cNvSpPr txBox="1"/>
          <p:nvPr/>
        </p:nvSpPr>
        <p:spPr>
          <a:xfrm>
            <a:off x="18895000" y="96823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c6eb7af18_7_1"/>
          <p:cNvSpPr txBox="1"/>
          <p:nvPr/>
        </p:nvSpPr>
        <p:spPr>
          <a:xfrm>
            <a:off x="7310000" y="5852625"/>
            <a:ext cx="24354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rx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_data= 30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3dc6eb7af18_7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172525" y="4419700"/>
            <a:ext cx="9931301" cy="85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dc6eb7af18_7_1"/>
          <p:cNvSpPr txBox="1"/>
          <p:nvPr/>
        </p:nvSpPr>
        <p:spPr>
          <a:xfrm>
            <a:off x="18742675" y="9072075"/>
            <a:ext cx="3808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_data= 30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c6eb7af18_7_1"/>
          <p:cNvSpPr/>
          <p:nvPr/>
        </p:nvSpPr>
        <p:spPr>
          <a:xfrm rot="-470421">
            <a:off x="8077851" y="9056969"/>
            <a:ext cx="226517" cy="343352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dc6eb7af18_7_1"/>
          <p:cNvSpPr txBox="1"/>
          <p:nvPr/>
        </p:nvSpPr>
        <p:spPr>
          <a:xfrm>
            <a:off x="6919440" y="9634575"/>
            <a:ext cx="32514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empty 1-&gt;0</a:t>
            </a:r>
            <a:endParaRPr b="1" sz="27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dc6eb7af18_7_1"/>
          <p:cNvSpPr txBox="1"/>
          <p:nvPr/>
        </p:nvSpPr>
        <p:spPr>
          <a:xfrm>
            <a:off x="17844088" y="8843900"/>
            <a:ext cx="1409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pop = 1</a:t>
            </a:r>
            <a:endParaRPr sz="2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c6eb7af18_7_1"/>
          <p:cNvSpPr/>
          <p:nvPr/>
        </p:nvSpPr>
        <p:spPr>
          <a:xfrm rot="10800000">
            <a:off x="18329050" y="9563750"/>
            <a:ext cx="216600" cy="293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c6eb7af18_7_1"/>
          <p:cNvSpPr txBox="1"/>
          <p:nvPr/>
        </p:nvSpPr>
        <p:spPr>
          <a:xfrm>
            <a:off x="7747048" y="68289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3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dc6eb7af18_7_1"/>
          <p:cNvSpPr txBox="1"/>
          <p:nvPr/>
        </p:nvSpPr>
        <p:spPr>
          <a:xfrm>
            <a:off x="8048673" y="106030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3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dc6eb7af18_7_1"/>
          <p:cNvSpPr txBox="1"/>
          <p:nvPr/>
        </p:nvSpPr>
        <p:spPr>
          <a:xfrm>
            <a:off x="18176798" y="106030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3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c6eb7af18_7_1"/>
          <p:cNvSpPr txBox="1"/>
          <p:nvPr/>
        </p:nvSpPr>
        <p:spPr>
          <a:xfrm>
            <a:off x="17327815" y="9634575"/>
            <a:ext cx="32514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empty 0-&gt;1</a:t>
            </a:r>
            <a:endParaRPr b="1" sz="27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g3dc6eb7af18_7_1"/>
          <p:cNvGrpSpPr/>
          <p:nvPr/>
        </p:nvGrpSpPr>
        <p:grpSpPr>
          <a:xfrm>
            <a:off x="16542907" y="4270149"/>
            <a:ext cx="4821221" cy="4186201"/>
            <a:chOff x="9636329" y="11107238"/>
            <a:chExt cx="5227956" cy="1249575"/>
          </a:xfrm>
        </p:grpSpPr>
        <p:pic>
          <p:nvPicPr>
            <p:cNvPr id="294" name="Google Shape;294;g3dc6eb7af18_7_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636329" y="11107238"/>
              <a:ext cx="5227956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g3dc6eb7af18_7_1"/>
            <p:cNvSpPr txBox="1"/>
            <p:nvPr/>
          </p:nvSpPr>
          <p:spPr>
            <a:xfrm>
              <a:off x="9801405" y="11200876"/>
              <a:ext cx="5062800" cy="10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① UART RX 수신 완료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rx_done 1클럭 발생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rx_data = 8'h30 유효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② FIFO 저장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rx_done을 기준으로 push 발생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push_data = 8'h30 저장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empty: 1 → 0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③ FIFO 읽기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pop 발생 시 저장 데이터 출력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pop_data = 8'h30</a:t>
              </a:r>
              <a:endParaRPr b="1" sz="1800">
                <a:solidFill>
                  <a:srgbClr val="545454"/>
                </a:solidFill>
              </a:endParaRPr>
            </a:p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882"/>
                <a:buFont typeface="Arial"/>
                <a:buNone/>
              </a:pPr>
              <a:r>
                <a:rPr b="1" lang="en-US" sz="1800">
                  <a:solidFill>
                    <a:srgbClr val="545454"/>
                  </a:solidFill>
                </a:rPr>
                <a:t>- 마지막 데이터 출력 후 empty: 0 → 1</a:t>
              </a:r>
              <a:r>
                <a:rPr lang="en-US" sz="3400">
                  <a:solidFill>
                    <a:srgbClr val="545454"/>
                  </a:solidFill>
                </a:rPr>
                <a:t> </a:t>
              </a:r>
              <a:endParaRPr sz="3400">
                <a:solidFill>
                  <a:srgbClr val="54545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dc6eb7af18_7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39635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dc6eb7af18_7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dc6eb7af18_7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3dc6eb7af18_7_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50" y="159955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dc6eb7af18_7_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181545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dc6eb7af18_7_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dc6eb7af18_7_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20440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dc6eb7af18_7_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dc6eb7af18_7_5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dc6eb7af18_7_54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dc6eb7af18_7_54"/>
          <p:cNvSpPr txBox="1"/>
          <p:nvPr/>
        </p:nvSpPr>
        <p:spPr>
          <a:xfrm>
            <a:off x="7467600" y="2336800"/>
            <a:ext cx="12331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rm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- UART TX 동작 흐름</a:t>
            </a:r>
            <a:r>
              <a:rPr lang="en-US" sz="7200">
                <a:solidFill>
                  <a:srgbClr val="545454"/>
                </a:solidFill>
              </a:rPr>
              <a:t>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g3dc6eb7af18_7_5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02588" y="4315388"/>
            <a:ext cx="12620625" cy="88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dc6eb7af18_7_54"/>
          <p:cNvSpPr txBox="1"/>
          <p:nvPr/>
        </p:nvSpPr>
        <p:spPr>
          <a:xfrm>
            <a:off x="1219688" y="9100125"/>
            <a:ext cx="1409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TX_FIFO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dc6eb7af18_7_54"/>
          <p:cNvSpPr txBox="1"/>
          <p:nvPr/>
        </p:nvSpPr>
        <p:spPr>
          <a:xfrm>
            <a:off x="970702" y="5099175"/>
            <a:ext cx="1658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UART_</a:t>
            </a: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dc6eb7af18_7_54"/>
          <p:cNvSpPr txBox="1"/>
          <p:nvPr/>
        </p:nvSpPr>
        <p:spPr>
          <a:xfrm>
            <a:off x="1095212" y="11013550"/>
            <a:ext cx="1658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REG_FILE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dc6eb7af18_7_54"/>
          <p:cNvSpPr/>
          <p:nvPr/>
        </p:nvSpPr>
        <p:spPr>
          <a:xfrm>
            <a:off x="7668375" y="11092075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dc6eb7af18_7_54"/>
          <p:cNvSpPr txBox="1"/>
          <p:nvPr/>
        </p:nvSpPr>
        <p:spPr>
          <a:xfrm>
            <a:off x="5132675" y="10648700"/>
            <a:ext cx="37044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write_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data= 44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c6eb7af18_7_54"/>
          <p:cNvSpPr/>
          <p:nvPr/>
        </p:nvSpPr>
        <p:spPr>
          <a:xfrm>
            <a:off x="7668375" y="8951425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dc6eb7af18_7_54"/>
          <p:cNvSpPr/>
          <p:nvPr/>
        </p:nvSpPr>
        <p:spPr>
          <a:xfrm>
            <a:off x="9557175" y="12772900"/>
            <a:ext cx="50661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dc6eb7af18_7_54"/>
          <p:cNvSpPr txBox="1"/>
          <p:nvPr/>
        </p:nvSpPr>
        <p:spPr>
          <a:xfrm>
            <a:off x="6112550" y="12538925"/>
            <a:ext cx="4152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reg_file addr == 1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dc6eb7af18_7_54"/>
          <p:cNvSpPr txBox="1"/>
          <p:nvPr/>
        </p:nvSpPr>
        <p:spPr>
          <a:xfrm>
            <a:off x="7668375" y="11894230"/>
            <a:ext cx="1888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write_en</a:t>
            </a: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= 1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dc6eb7af18_7_54"/>
          <p:cNvSpPr/>
          <p:nvPr/>
        </p:nvSpPr>
        <p:spPr>
          <a:xfrm>
            <a:off x="8540975" y="9187225"/>
            <a:ext cx="185400" cy="1905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dc6eb7af18_7_54"/>
          <p:cNvSpPr txBox="1"/>
          <p:nvPr/>
        </p:nvSpPr>
        <p:spPr>
          <a:xfrm>
            <a:off x="8281768" y="9944678"/>
            <a:ext cx="32514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empty 1-&gt;0</a:t>
            </a:r>
            <a:endParaRPr b="1" sz="27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dc6eb7af18_7_54"/>
          <p:cNvSpPr txBox="1"/>
          <p:nvPr/>
        </p:nvSpPr>
        <p:spPr>
          <a:xfrm>
            <a:off x="7608363" y="9109100"/>
            <a:ext cx="1409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push = 1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dc6eb7af18_7_54"/>
          <p:cNvSpPr/>
          <p:nvPr/>
        </p:nvSpPr>
        <p:spPr>
          <a:xfrm>
            <a:off x="8518798" y="11328025"/>
            <a:ext cx="185400" cy="727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dc6eb7af18_7_54"/>
          <p:cNvSpPr/>
          <p:nvPr/>
        </p:nvSpPr>
        <p:spPr>
          <a:xfrm>
            <a:off x="6610975" y="11276600"/>
            <a:ext cx="690300" cy="368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dc6eb7af18_7_54"/>
          <p:cNvSpPr txBox="1"/>
          <p:nvPr/>
        </p:nvSpPr>
        <p:spPr>
          <a:xfrm>
            <a:off x="4077500" y="11103428"/>
            <a:ext cx="37044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write_addr = 1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g3dc6eb7af18_7_54"/>
          <p:cNvGrpSpPr/>
          <p:nvPr/>
        </p:nvGrpSpPr>
        <p:grpSpPr>
          <a:xfrm>
            <a:off x="15887425" y="6018675"/>
            <a:ext cx="5697045" cy="5072900"/>
            <a:chOff x="9181582" y="11107237"/>
            <a:chExt cx="6177667" cy="1249575"/>
          </a:xfrm>
        </p:grpSpPr>
        <p:pic>
          <p:nvPicPr>
            <p:cNvPr id="328" name="Google Shape;328;g3dc6eb7af18_7_5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181582" y="11107237"/>
              <a:ext cx="6137443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g3dc6eb7af18_7_54"/>
            <p:cNvSpPr txBox="1"/>
            <p:nvPr/>
          </p:nvSpPr>
          <p:spPr>
            <a:xfrm>
              <a:off x="9306149" y="11153496"/>
              <a:ext cx="6053100" cy="11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① TX FIFO Push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push = 1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push_data = 8'h44 ('D')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② REG_FILE Write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write_data = 8'h44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write_addr = 1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write_enable = 1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③ FIFO 저장 완료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REG_FILE[1]에 8'h44 저장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write pointer 증가 (write_addr = 2)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empty: 1 → 0 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 </a:t>
              </a:r>
              <a:r>
                <a:rPr lang="en-US" sz="3700">
                  <a:solidFill>
                    <a:srgbClr val="545454"/>
                  </a:solidFill>
                </a:rPr>
                <a:t> </a:t>
              </a:r>
              <a:endParaRPr sz="3700">
                <a:solidFill>
                  <a:srgbClr val="545454"/>
                </a:solidFill>
              </a:endParaRPr>
            </a:p>
          </p:txBody>
        </p:sp>
      </p:grpSp>
      <p:sp>
        <p:nvSpPr>
          <p:cNvPr id="330" name="Google Shape;330;g3dc6eb7af18_7_54"/>
          <p:cNvSpPr/>
          <p:nvPr/>
        </p:nvSpPr>
        <p:spPr>
          <a:xfrm>
            <a:off x="8389950" y="9589624"/>
            <a:ext cx="381300" cy="36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dc6eb7af18_7_54"/>
          <p:cNvSpPr/>
          <p:nvPr/>
        </p:nvSpPr>
        <p:spPr>
          <a:xfrm>
            <a:off x="8389950" y="11481325"/>
            <a:ext cx="381300" cy="3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7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g3dc6eb7af18_7_54"/>
          <p:cNvCxnSpPr/>
          <p:nvPr/>
        </p:nvCxnSpPr>
        <p:spPr>
          <a:xfrm>
            <a:off x="9568150" y="4369200"/>
            <a:ext cx="0" cy="8694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33" name="Google Shape;333;g3dc6eb7af18_7_54"/>
          <p:cNvSpPr/>
          <p:nvPr/>
        </p:nvSpPr>
        <p:spPr>
          <a:xfrm>
            <a:off x="9716825" y="12220925"/>
            <a:ext cx="381300" cy="31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c6eb7af18_7_54"/>
          <p:cNvSpPr/>
          <p:nvPr/>
        </p:nvSpPr>
        <p:spPr>
          <a:xfrm rot="-2191857">
            <a:off x="9541990" y="12115104"/>
            <a:ext cx="243424" cy="72745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c6eb7af18_7_54"/>
          <p:cNvSpPr txBox="1"/>
          <p:nvPr/>
        </p:nvSpPr>
        <p:spPr>
          <a:xfrm>
            <a:off x="7255900" y="8388925"/>
            <a:ext cx="2722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push_data </a:t>
            </a: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= 44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dc6eb7af18_7_54"/>
          <p:cNvSpPr/>
          <p:nvPr/>
        </p:nvSpPr>
        <p:spPr>
          <a:xfrm>
            <a:off x="12688800" y="11342900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c6eb7af18_7_54"/>
          <p:cNvSpPr txBox="1"/>
          <p:nvPr/>
        </p:nvSpPr>
        <p:spPr>
          <a:xfrm>
            <a:off x="9982450" y="11103428"/>
            <a:ext cx="37044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write_addr = 2</a:t>
            </a:r>
            <a:endParaRPr sz="3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g3dc6eb7af18_7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950" y="139635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dc6eb7af18_7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dc6eb7af18_7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dc6eb7af18_7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950" y="159955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dc6eb7af18_7_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181545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dc6eb7af18_7_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dc6eb7af18_7_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2055126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dc6eb7af18_7_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dc6eb7af18_7_9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dc6eb7af18_7_92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c6eb7af18_7_92"/>
          <p:cNvSpPr txBox="1"/>
          <p:nvPr/>
        </p:nvSpPr>
        <p:spPr>
          <a:xfrm>
            <a:off x="7467600" y="2336800"/>
            <a:ext cx="123312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rm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- UART TX 동작 흐름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g3dc6eb7af18_7_9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02588" y="4315388"/>
            <a:ext cx="12620625" cy="88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dc6eb7af18_7_92"/>
          <p:cNvSpPr txBox="1"/>
          <p:nvPr/>
        </p:nvSpPr>
        <p:spPr>
          <a:xfrm>
            <a:off x="7868875" y="4912151"/>
            <a:ext cx="2489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tx_start</a:t>
            </a: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0 -&gt; 1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dc6eb7af18_7_92"/>
          <p:cNvSpPr txBox="1"/>
          <p:nvPr/>
        </p:nvSpPr>
        <p:spPr>
          <a:xfrm>
            <a:off x="11488775" y="9415750"/>
            <a:ext cx="2722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b="1" lang="en-US" sz="3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_data = 44</a:t>
            </a:r>
            <a:endParaRPr b="1" sz="3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dc6eb7af18_7_92"/>
          <p:cNvSpPr txBox="1"/>
          <p:nvPr/>
        </p:nvSpPr>
        <p:spPr>
          <a:xfrm>
            <a:off x="1219688" y="9100125"/>
            <a:ext cx="1409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TX_FIFO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c6eb7af18_7_92"/>
          <p:cNvSpPr txBox="1"/>
          <p:nvPr/>
        </p:nvSpPr>
        <p:spPr>
          <a:xfrm>
            <a:off x="970702" y="5099175"/>
            <a:ext cx="1658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c6eb7af18_7_92"/>
          <p:cNvSpPr txBox="1"/>
          <p:nvPr/>
        </p:nvSpPr>
        <p:spPr>
          <a:xfrm>
            <a:off x="1095212" y="11013550"/>
            <a:ext cx="1658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REG_FILE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dc6eb7af18_7_92"/>
          <p:cNvSpPr txBox="1"/>
          <p:nvPr/>
        </p:nvSpPr>
        <p:spPr>
          <a:xfrm>
            <a:off x="8159848" y="9933948"/>
            <a:ext cx="18888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empty 1-&gt;0</a:t>
            </a:r>
            <a:endParaRPr b="1" sz="27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dc6eb7af18_7_92"/>
          <p:cNvSpPr/>
          <p:nvPr/>
        </p:nvSpPr>
        <p:spPr>
          <a:xfrm>
            <a:off x="9599975" y="11800925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dc6eb7af18_7_92"/>
          <p:cNvSpPr txBox="1"/>
          <p:nvPr/>
        </p:nvSpPr>
        <p:spPr>
          <a:xfrm>
            <a:off x="7868875" y="11569725"/>
            <a:ext cx="17769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-US" sz="3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data= 44</a:t>
            </a:r>
            <a:endParaRPr b="1" sz="30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dc6eb7af18_7_92"/>
          <p:cNvSpPr/>
          <p:nvPr/>
        </p:nvSpPr>
        <p:spPr>
          <a:xfrm>
            <a:off x="9599975" y="9649175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dc6eb7af18_7_92"/>
          <p:cNvSpPr/>
          <p:nvPr/>
        </p:nvSpPr>
        <p:spPr>
          <a:xfrm>
            <a:off x="9557175" y="12772900"/>
            <a:ext cx="50661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" name="Google Shape;364;g3dc6eb7af18_7_92"/>
          <p:cNvGrpSpPr/>
          <p:nvPr/>
        </p:nvGrpSpPr>
        <p:grpSpPr>
          <a:xfrm>
            <a:off x="15887425" y="4412716"/>
            <a:ext cx="5703220" cy="5173254"/>
            <a:chOff x="9181582" y="11107237"/>
            <a:chExt cx="6184363" cy="1274295"/>
          </a:xfrm>
        </p:grpSpPr>
        <p:pic>
          <p:nvPicPr>
            <p:cNvPr id="365" name="Google Shape;365;g3dc6eb7af18_7_9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181582" y="11107237"/>
              <a:ext cx="6137443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g3dc6eb7af18_7_92"/>
            <p:cNvSpPr txBox="1"/>
            <p:nvPr/>
          </p:nvSpPr>
          <p:spPr>
            <a:xfrm>
              <a:off x="9312845" y="11224432"/>
              <a:ext cx="6053100" cy="11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① TX FIFO 데이터 존재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empty: 1 → 0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전송할 데이터 존재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② FIFO Read 제어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tx_busy = 0일 때 UART TX는 idle 상태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~tx_busy 신호를 FIFO pop으로 사용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pop_data = 8'h44 ('D') 출력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③ UART TX 전송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tx_data = 8'h44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tx_start 발생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tx_busy: 0 → 1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- 8N1 형식으로 PC에 송신  </a:t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100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100">
                  <a:solidFill>
                    <a:srgbClr val="545454"/>
                  </a:solidFill>
                </a:rPr>
                <a:t> </a:t>
              </a:r>
              <a:r>
                <a:rPr lang="en-US" sz="3700">
                  <a:solidFill>
                    <a:srgbClr val="545454"/>
                  </a:solidFill>
                </a:rPr>
                <a:t> </a:t>
              </a:r>
              <a:endParaRPr sz="3700">
                <a:solidFill>
                  <a:srgbClr val="545454"/>
                </a:solidFill>
              </a:endParaRPr>
            </a:p>
          </p:txBody>
        </p:sp>
      </p:grpSp>
      <p:sp>
        <p:nvSpPr>
          <p:cNvPr id="367" name="Google Shape;367;g3dc6eb7af18_7_92"/>
          <p:cNvSpPr/>
          <p:nvPr/>
        </p:nvSpPr>
        <p:spPr>
          <a:xfrm rot="10800000">
            <a:off x="9465975" y="5477992"/>
            <a:ext cx="225300" cy="4521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c6eb7af18_7_92"/>
          <p:cNvSpPr/>
          <p:nvPr/>
        </p:nvSpPr>
        <p:spPr>
          <a:xfrm>
            <a:off x="9393525" y="7596016"/>
            <a:ext cx="381300" cy="36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c6eb7af18_7_92"/>
          <p:cNvSpPr/>
          <p:nvPr/>
        </p:nvSpPr>
        <p:spPr>
          <a:xfrm rot="10800000">
            <a:off x="10410000" y="5666200"/>
            <a:ext cx="254700" cy="3976200"/>
          </a:xfrm>
          <a:prstGeom prst="downArrow">
            <a:avLst>
              <a:gd fmla="val 52109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dc6eb7af18_7_92"/>
          <p:cNvSpPr txBox="1"/>
          <p:nvPr/>
        </p:nvSpPr>
        <p:spPr>
          <a:xfrm>
            <a:off x="9691275" y="5626286"/>
            <a:ext cx="2489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tx_busy 0 -&gt; 1</a:t>
            </a:r>
            <a:endParaRPr b="1" sz="2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dc6eb7af18_7_92"/>
          <p:cNvSpPr txBox="1"/>
          <p:nvPr/>
        </p:nvSpPr>
        <p:spPr>
          <a:xfrm>
            <a:off x="10547646" y="9182815"/>
            <a:ext cx="18888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b="1" lang="en-US" sz="27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1-&gt;0</a:t>
            </a:r>
            <a:endParaRPr b="1" sz="27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c6eb7af18_7_92"/>
          <p:cNvSpPr/>
          <p:nvPr/>
        </p:nvSpPr>
        <p:spPr>
          <a:xfrm>
            <a:off x="10348900" y="7508034"/>
            <a:ext cx="381300" cy="36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dc6eb7af18_7_92"/>
          <p:cNvSpPr txBox="1"/>
          <p:nvPr/>
        </p:nvSpPr>
        <p:spPr>
          <a:xfrm>
            <a:off x="11488775" y="5118100"/>
            <a:ext cx="2722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_data = 44</a:t>
            </a:r>
            <a:endParaRPr b="1" sz="3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dc6eb7af18_7_92"/>
          <p:cNvSpPr/>
          <p:nvPr/>
        </p:nvSpPr>
        <p:spPr>
          <a:xfrm>
            <a:off x="9599975" y="5351575"/>
            <a:ext cx="1888800" cy="23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c6eb7af18_7_92"/>
          <p:cNvSpPr/>
          <p:nvPr/>
        </p:nvSpPr>
        <p:spPr>
          <a:xfrm>
            <a:off x="12007700" y="5685666"/>
            <a:ext cx="381300" cy="36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c6eb7af18_7_92"/>
          <p:cNvSpPr/>
          <p:nvPr/>
        </p:nvSpPr>
        <p:spPr>
          <a:xfrm rot="10800000">
            <a:off x="10420950" y="9903375"/>
            <a:ext cx="234000" cy="1799100"/>
          </a:xfrm>
          <a:prstGeom prst="downArrow">
            <a:avLst>
              <a:gd fmla="val 52109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g3dc6eb7af18_7_9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651100" y="9649175"/>
            <a:ext cx="6330650" cy="24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dc6eb7af18_7_92"/>
          <p:cNvSpPr/>
          <p:nvPr/>
        </p:nvSpPr>
        <p:spPr>
          <a:xfrm>
            <a:off x="17866575" y="11734634"/>
            <a:ext cx="381300" cy="36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g3d945aabcb5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d945aabcb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d945aabcb5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d945aabcb5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d945aabcb5_0_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d945aabcb5_0_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d945aabcb5_0_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43987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d945aabcb5_0_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d945aabcb5_0_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d945aabcb5_0_23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d945aabcb5_0_23"/>
          <p:cNvSpPr txBox="1"/>
          <p:nvPr/>
        </p:nvSpPr>
        <p:spPr>
          <a:xfrm>
            <a:off x="7467600" y="2336800"/>
            <a:ext cx="13514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</a:t>
            </a:r>
            <a:r>
              <a:rPr lang="en-US" sz="7200">
                <a:solidFill>
                  <a:srgbClr val="545454"/>
                </a:solidFill>
              </a:rPr>
              <a:t>Simulation</a:t>
            </a:r>
            <a:r>
              <a:rPr lang="en-US" sz="7200">
                <a:solidFill>
                  <a:srgbClr val="545454"/>
                </a:solidFill>
              </a:rPr>
              <a:t> 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4" name="Google Shape;394;g3d945aabcb5_0_23"/>
          <p:cNvGraphicFramePr/>
          <p:nvPr/>
        </p:nvGraphicFramePr>
        <p:xfrm>
          <a:off x="18344675" y="179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482250"/>
                <a:gridCol w="3115000"/>
              </a:tblGrid>
              <a:tr h="40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검증 항목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확인 내용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1. </a:t>
                      </a:r>
                      <a:r>
                        <a:rPr b="1" lang="en-US" sz="1300"/>
                        <a:t>Full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DEPTH</a:t>
                      </a:r>
                      <a:r>
                        <a:rPr b="1" lang="en-US" sz="1300"/>
                        <a:t>만큼 Push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2. </a:t>
                      </a:r>
                      <a:r>
                        <a:rPr b="1" lang="en-US" sz="1300"/>
                        <a:t>Empty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모든 데이터 Pop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empty=1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3. </a:t>
                      </a:r>
                      <a:r>
                        <a:rPr b="1" lang="en-US" sz="1300"/>
                        <a:t>Data Order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pop_data == compare_data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4. </a:t>
                      </a:r>
                      <a:r>
                        <a:rPr b="1" lang="en-US" sz="1300"/>
                        <a:t>Random Test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Push/Pop 랜덤 입력 검증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5. </a:t>
                      </a:r>
                      <a:r>
                        <a:rPr b="1" lang="en-US" sz="1300"/>
                        <a:t>Flag Check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compare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_count</a:t>
                      </a:r>
                      <a:r>
                        <a:rPr b="1" lang="en-US" sz="1300"/>
                        <a:t>기준 full/empty 비교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395" name="Google Shape;395;g3d945aabcb5_0_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04300" y="4419700"/>
            <a:ext cx="10950426" cy="488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d945aabcb5_0_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388275" y="4419705"/>
            <a:ext cx="10326251" cy="564778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d945aabcb5_0_23"/>
          <p:cNvSpPr/>
          <p:nvPr/>
        </p:nvSpPr>
        <p:spPr>
          <a:xfrm>
            <a:off x="6045200" y="8213275"/>
            <a:ext cx="6209400" cy="1164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d945aabcb5_0_23"/>
          <p:cNvSpPr/>
          <p:nvPr/>
        </p:nvSpPr>
        <p:spPr>
          <a:xfrm>
            <a:off x="17764625" y="8550775"/>
            <a:ext cx="4950000" cy="157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d945aabcb5_0_23"/>
          <p:cNvSpPr/>
          <p:nvPr/>
        </p:nvSpPr>
        <p:spPr>
          <a:xfrm>
            <a:off x="5700950" y="4978500"/>
            <a:ext cx="468600" cy="21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d945aabcb5_0_23"/>
          <p:cNvSpPr/>
          <p:nvPr/>
        </p:nvSpPr>
        <p:spPr>
          <a:xfrm rot="10800000">
            <a:off x="6322050" y="4983540"/>
            <a:ext cx="468600" cy="21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d945aabcb5_0_23"/>
          <p:cNvSpPr/>
          <p:nvPr/>
        </p:nvSpPr>
        <p:spPr>
          <a:xfrm>
            <a:off x="5397875" y="4807600"/>
            <a:ext cx="1725600" cy="822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d945aabcb5_0_23"/>
          <p:cNvSpPr txBox="1"/>
          <p:nvPr/>
        </p:nvSpPr>
        <p:spPr>
          <a:xfrm>
            <a:off x="4876775" y="45624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d945aabcb5_0_23"/>
          <p:cNvSpPr txBox="1"/>
          <p:nvPr/>
        </p:nvSpPr>
        <p:spPr>
          <a:xfrm>
            <a:off x="5524100" y="77921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d945aabcb5_0_23"/>
          <p:cNvSpPr/>
          <p:nvPr/>
        </p:nvSpPr>
        <p:spPr>
          <a:xfrm>
            <a:off x="16688600" y="4723925"/>
            <a:ext cx="3811500" cy="1657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d945aabcb5_0_23"/>
          <p:cNvSpPr txBox="1"/>
          <p:nvPr/>
        </p:nvSpPr>
        <p:spPr>
          <a:xfrm>
            <a:off x="16113300" y="44197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d945aabcb5_0_23"/>
          <p:cNvSpPr txBox="1"/>
          <p:nvPr/>
        </p:nvSpPr>
        <p:spPr>
          <a:xfrm>
            <a:off x="17356600" y="834942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g3d945aabcb5_0_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04300" y="10265872"/>
            <a:ext cx="1095042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d945aabcb5_0_23"/>
          <p:cNvSpPr txBox="1"/>
          <p:nvPr/>
        </p:nvSpPr>
        <p:spPr>
          <a:xfrm>
            <a:off x="1417450" y="10476600"/>
            <a:ext cx="10762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AutoNum type="arabicPeriod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posedge clk 이후 1ns 뒤 push, push_data 입력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AutoNum type="arabicPeriod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유효한 push 데이터는 다음 posedge에서 Register File에 순차 저장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g3d945aabcb5_0_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363804" y="10289687"/>
            <a:ext cx="1039147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d945aabcb5_0_23"/>
          <p:cNvSpPr txBox="1"/>
          <p:nvPr/>
        </p:nvSpPr>
        <p:spPr>
          <a:xfrm>
            <a:off x="12478825" y="10474295"/>
            <a:ext cx="10762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DEPTH만큼 데이터가 저장되면 full 신호가 1로 변경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상태에서 추가 255가 입력되어도 저장되지 않음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d945aabcb5_0_23"/>
          <p:cNvSpPr txBox="1"/>
          <p:nvPr/>
        </p:nvSpPr>
        <p:spPr>
          <a:xfrm>
            <a:off x="17674100" y="5051200"/>
            <a:ext cx="670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945aabcb5_0_23"/>
          <p:cNvSpPr txBox="1"/>
          <p:nvPr/>
        </p:nvSpPr>
        <p:spPr>
          <a:xfrm>
            <a:off x="18746500" y="5051200"/>
            <a:ext cx="876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255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945aabcb5_0_23"/>
          <p:cNvSpPr txBox="1"/>
          <p:nvPr/>
        </p:nvSpPr>
        <p:spPr>
          <a:xfrm>
            <a:off x="18236375" y="9246800"/>
            <a:ext cx="670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d945aabcb5_0_23"/>
          <p:cNvSpPr txBox="1"/>
          <p:nvPr/>
        </p:nvSpPr>
        <p:spPr>
          <a:xfrm>
            <a:off x="18344600" y="5808400"/>
            <a:ext cx="2250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= 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945aabcb5_0_23"/>
          <p:cNvSpPr txBox="1"/>
          <p:nvPr/>
        </p:nvSpPr>
        <p:spPr>
          <a:xfrm>
            <a:off x="5845700" y="5685350"/>
            <a:ext cx="830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1ns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d945aabcb5_0_23"/>
          <p:cNvSpPr txBox="1"/>
          <p:nvPr/>
        </p:nvSpPr>
        <p:spPr>
          <a:xfrm>
            <a:off x="13400625" y="9337125"/>
            <a:ext cx="18996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63 </a:t>
            </a:r>
            <a:r>
              <a:rPr lang="en-US" sz="24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번지</a:t>
            </a:r>
            <a:endParaRPr sz="24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g3d945aabcb5_0_23"/>
          <p:cNvCxnSpPr>
            <a:stCxn id="411" idx="2"/>
            <a:endCxn id="413" idx="0"/>
          </p:cNvCxnSpPr>
          <p:nvPr/>
        </p:nvCxnSpPr>
        <p:spPr>
          <a:xfrm>
            <a:off x="18009350" y="5614900"/>
            <a:ext cx="562200" cy="363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g3dc288aeda7_2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dc288aeda7_2_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dc288aeda7_2_1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dc288aeda7_2_1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dc288aeda7_2_1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dc288aeda7_2_1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dc288aeda7_2_18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43987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dc288aeda7_2_18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dc288aeda7_2_18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dc288aeda7_2_188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dc288aeda7_2_188"/>
          <p:cNvSpPr txBox="1"/>
          <p:nvPr/>
        </p:nvSpPr>
        <p:spPr>
          <a:xfrm>
            <a:off x="7467600" y="2336800"/>
            <a:ext cx="13514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</a:t>
            </a:r>
            <a:r>
              <a:rPr lang="en-US" sz="7200">
                <a:solidFill>
                  <a:srgbClr val="545454"/>
                </a:solidFill>
              </a:rPr>
              <a:t>Simulation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g3dc288aeda7_2_188"/>
          <p:cNvGraphicFramePr/>
          <p:nvPr/>
        </p:nvGraphicFramePr>
        <p:xfrm>
          <a:off x="18344675" y="179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482250"/>
                <a:gridCol w="3115000"/>
              </a:tblGrid>
              <a:tr h="40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검증 항목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확인 내용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1. Full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DEPTH</a:t>
                      </a:r>
                      <a:r>
                        <a:rPr b="1" lang="en-US" sz="1300"/>
                        <a:t>만큼 Push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2. Empty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모든 데이터 Pop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empty=1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3. Data Order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pop_data == compare_data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4. Random Test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Push/Pop 랜덤 입력 검증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5. Flag Check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compare_count</a:t>
                      </a:r>
                      <a:r>
                        <a:rPr b="1" lang="en-US" sz="1300"/>
                        <a:t>기준 full/empty 비교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34" name="Google Shape;434;g3dc288aeda7_2_188"/>
          <p:cNvSpPr txBox="1"/>
          <p:nvPr/>
        </p:nvSpPr>
        <p:spPr>
          <a:xfrm>
            <a:off x="11220550" y="1087552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g3dc288aeda7_2_18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04300" y="10265872"/>
            <a:ext cx="1095042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dc288aeda7_2_188"/>
          <p:cNvSpPr txBox="1"/>
          <p:nvPr/>
        </p:nvSpPr>
        <p:spPr>
          <a:xfrm>
            <a:off x="1417450" y="10476600"/>
            <a:ext cx="10762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data는 현재 read address가 가리키는 Register File 값을 조합 출력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AutoNum type="arabicPeriod"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다음 posedge clk에서 read address가 +1 증가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g3dc288aeda7_2_18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63804" y="10289687"/>
            <a:ext cx="10391476" cy="15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3dc288aeda7_2_18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38927" y="4526613"/>
            <a:ext cx="9988070" cy="53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dc288aeda7_2_188"/>
          <p:cNvSpPr txBox="1"/>
          <p:nvPr/>
        </p:nvSpPr>
        <p:spPr>
          <a:xfrm>
            <a:off x="12478825" y="10474295"/>
            <a:ext cx="10762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FIFO 내부 데이터가 모두 출력되면 empty=1 발생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address는 마지막 주소 이후 0번 주소로 순환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c288aeda7_2_188"/>
          <p:cNvSpPr txBox="1"/>
          <p:nvPr/>
        </p:nvSpPr>
        <p:spPr>
          <a:xfrm>
            <a:off x="4184775" y="5096538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c288aeda7_2_188"/>
          <p:cNvSpPr/>
          <p:nvPr/>
        </p:nvSpPr>
        <p:spPr>
          <a:xfrm>
            <a:off x="4572000" y="5136825"/>
            <a:ext cx="2388300" cy="2547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dc288aeda7_2_188"/>
          <p:cNvSpPr txBox="1"/>
          <p:nvPr/>
        </p:nvSpPr>
        <p:spPr>
          <a:xfrm>
            <a:off x="3895925" y="78491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dc288aeda7_2_188"/>
          <p:cNvSpPr/>
          <p:nvPr/>
        </p:nvSpPr>
        <p:spPr>
          <a:xfrm>
            <a:off x="4323700" y="7811225"/>
            <a:ext cx="7221300" cy="866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g3dc288aeda7_2_18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928127" y="5065325"/>
            <a:ext cx="11246547" cy="428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dc288aeda7_2_188"/>
          <p:cNvSpPr/>
          <p:nvPr/>
        </p:nvSpPr>
        <p:spPr>
          <a:xfrm>
            <a:off x="15720625" y="6270950"/>
            <a:ext cx="6480900" cy="141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c288aeda7_2_188"/>
          <p:cNvSpPr txBox="1"/>
          <p:nvPr/>
        </p:nvSpPr>
        <p:spPr>
          <a:xfrm>
            <a:off x="18344675" y="55103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dc288aeda7_2_188"/>
          <p:cNvSpPr/>
          <p:nvPr/>
        </p:nvSpPr>
        <p:spPr>
          <a:xfrm>
            <a:off x="16306800" y="7772650"/>
            <a:ext cx="6149400" cy="40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c288aeda7_2_188"/>
          <p:cNvSpPr txBox="1"/>
          <p:nvPr/>
        </p:nvSpPr>
        <p:spPr>
          <a:xfrm>
            <a:off x="19305825" y="82693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c288aeda7_2_188"/>
          <p:cNvSpPr txBox="1"/>
          <p:nvPr/>
        </p:nvSpPr>
        <p:spPr>
          <a:xfrm>
            <a:off x="19036825" y="7082550"/>
            <a:ext cx="2250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empty = 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c288aeda7_2_188"/>
          <p:cNvSpPr/>
          <p:nvPr/>
        </p:nvSpPr>
        <p:spPr>
          <a:xfrm>
            <a:off x="5583500" y="8112225"/>
            <a:ext cx="721500" cy="1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c288aeda7_2_188"/>
          <p:cNvSpPr/>
          <p:nvPr/>
        </p:nvSpPr>
        <p:spPr>
          <a:xfrm>
            <a:off x="6846200" y="8112225"/>
            <a:ext cx="721500" cy="1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c288aeda7_2_188"/>
          <p:cNvSpPr/>
          <p:nvPr/>
        </p:nvSpPr>
        <p:spPr>
          <a:xfrm>
            <a:off x="7990325" y="8112225"/>
            <a:ext cx="721500" cy="1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dc288aeda7_2_188"/>
          <p:cNvSpPr/>
          <p:nvPr/>
        </p:nvSpPr>
        <p:spPr>
          <a:xfrm>
            <a:off x="9253025" y="8112225"/>
            <a:ext cx="721500" cy="1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dc288aeda7_2_188"/>
          <p:cNvSpPr txBox="1"/>
          <p:nvPr/>
        </p:nvSpPr>
        <p:spPr>
          <a:xfrm>
            <a:off x="5641475" y="7849100"/>
            <a:ext cx="965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c288aeda7_2_188"/>
          <p:cNvSpPr txBox="1"/>
          <p:nvPr/>
        </p:nvSpPr>
        <p:spPr>
          <a:xfrm>
            <a:off x="6869625" y="7849100"/>
            <a:ext cx="965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dc288aeda7_2_188"/>
          <p:cNvSpPr txBox="1"/>
          <p:nvPr/>
        </p:nvSpPr>
        <p:spPr>
          <a:xfrm>
            <a:off x="8014313" y="7882275"/>
            <a:ext cx="965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dc288aeda7_2_188"/>
          <p:cNvSpPr txBox="1"/>
          <p:nvPr/>
        </p:nvSpPr>
        <p:spPr>
          <a:xfrm>
            <a:off x="9265350" y="7882275"/>
            <a:ext cx="965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c288aeda7_2_188"/>
          <p:cNvSpPr txBox="1"/>
          <p:nvPr/>
        </p:nvSpPr>
        <p:spPr>
          <a:xfrm>
            <a:off x="4909875" y="6217300"/>
            <a:ext cx="22506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pop </a:t>
            </a:r>
            <a:r>
              <a:rPr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= 1</a:t>
            </a:r>
            <a:endParaRPr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dc288aeda7_2_188"/>
          <p:cNvSpPr txBox="1"/>
          <p:nvPr/>
        </p:nvSpPr>
        <p:spPr>
          <a:xfrm>
            <a:off x="21187075" y="7646250"/>
            <a:ext cx="10923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0 번지</a:t>
            </a:r>
            <a:endParaRPr sz="26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c288aeda7_2_188"/>
          <p:cNvSpPr txBox="1"/>
          <p:nvPr/>
        </p:nvSpPr>
        <p:spPr>
          <a:xfrm>
            <a:off x="17002100" y="7654245"/>
            <a:ext cx="16113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r>
              <a:rPr lang="en-US" sz="2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번지</a:t>
            </a:r>
            <a:endParaRPr sz="26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g3dc288aeda7_2_188"/>
          <p:cNvCxnSpPr>
            <a:stCxn id="460" idx="3"/>
            <a:endCxn id="459" idx="1"/>
          </p:cNvCxnSpPr>
          <p:nvPr/>
        </p:nvCxnSpPr>
        <p:spPr>
          <a:xfrm flipH="1" rot="10800000">
            <a:off x="18613400" y="7927995"/>
            <a:ext cx="2573700" cy="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g3dc288aeda7_2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dc288aeda7_2_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dc288aeda7_2_2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dc288aeda7_2_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dc288aeda7_2_2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dc288aeda7_2_2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dc288aeda7_2_2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43987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dc288aeda7_2_2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dc288aeda7_2_2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dc288aeda7_2_232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dc288aeda7_2_232"/>
          <p:cNvSpPr txBox="1"/>
          <p:nvPr/>
        </p:nvSpPr>
        <p:spPr>
          <a:xfrm>
            <a:off x="7467600" y="2336800"/>
            <a:ext cx="13514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</a:t>
            </a:r>
            <a:r>
              <a:rPr lang="en-US" sz="7200">
                <a:solidFill>
                  <a:srgbClr val="545454"/>
                </a:solidFill>
              </a:rPr>
              <a:t>Simulation</a:t>
            </a:r>
            <a:r>
              <a:rPr lang="en-US" sz="7200">
                <a:solidFill>
                  <a:srgbClr val="545454"/>
                </a:solidFill>
              </a:rPr>
              <a:t>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7" name="Google Shape;477;g3dc288aeda7_2_232"/>
          <p:cNvGraphicFramePr/>
          <p:nvPr/>
        </p:nvGraphicFramePr>
        <p:xfrm>
          <a:off x="18344675" y="179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482250"/>
                <a:gridCol w="3115000"/>
              </a:tblGrid>
              <a:tr h="40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검증 항목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확인 내용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1. Full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DEPTH</a:t>
                      </a:r>
                      <a:r>
                        <a:rPr b="1" lang="en-US" sz="1300"/>
                        <a:t>만큼 Push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2. Empty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모든 데이터 Pop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empty=1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3. Data Order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pop_data == compare_data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4. Random Test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Push/Pop 랜덤 입력 검증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5. Flag Check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compare_count</a:t>
                      </a:r>
                      <a:r>
                        <a:rPr b="1" lang="en-US" sz="1300"/>
                        <a:t>기준 full/empty 비교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g3dc288aeda7_2_232"/>
          <p:cNvSpPr txBox="1"/>
          <p:nvPr/>
        </p:nvSpPr>
        <p:spPr>
          <a:xfrm>
            <a:off x="11220550" y="1087552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g3dc288aeda7_2_2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04300" y="10265872"/>
            <a:ext cx="1095042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g3dc288aeda7_2_232"/>
          <p:cNvSpPr txBox="1"/>
          <p:nvPr/>
        </p:nvSpPr>
        <p:spPr>
          <a:xfrm>
            <a:off x="1417450" y="10476600"/>
            <a:ext cx="10762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Stream 구간에서 pop 발생 시마다 FIFO 출력값(pop_data)과 기준값(compare_data)을 비교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g3dc288aeda7_2_2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63804" y="10289687"/>
            <a:ext cx="1039147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dc288aeda7_2_232"/>
          <p:cNvSpPr txBox="1"/>
          <p:nvPr/>
        </p:nvSpPr>
        <p:spPr>
          <a:xfrm>
            <a:off x="12478825" y="10474295"/>
            <a:ext cx="10762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push/pop을 랜덤하게 발생시켜 연속 입력 상황 검증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c288aeda7_2_232"/>
          <p:cNvSpPr txBox="1"/>
          <p:nvPr/>
        </p:nvSpPr>
        <p:spPr>
          <a:xfrm>
            <a:off x="2385625" y="5295763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g3dc288aeda7_2_2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0313" y="5927275"/>
            <a:ext cx="8239125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dc288aeda7_2_232"/>
          <p:cNvSpPr txBox="1"/>
          <p:nvPr/>
        </p:nvSpPr>
        <p:spPr>
          <a:xfrm>
            <a:off x="12431775" y="51432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Google Shape;486;g3dc288aeda7_2_23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882137" y="5927275"/>
            <a:ext cx="11354799" cy="323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dc288aeda7_2_232"/>
          <p:cNvSpPr/>
          <p:nvPr/>
        </p:nvSpPr>
        <p:spPr>
          <a:xfrm>
            <a:off x="12085225" y="7056057"/>
            <a:ext cx="11053200" cy="631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c288aeda7_2_232"/>
          <p:cNvSpPr txBox="1"/>
          <p:nvPr/>
        </p:nvSpPr>
        <p:spPr>
          <a:xfrm>
            <a:off x="12761336" y="6921733"/>
            <a:ext cx="10923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sz="26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dc288aeda7_2_232"/>
          <p:cNvSpPr txBox="1"/>
          <p:nvPr/>
        </p:nvSpPr>
        <p:spPr>
          <a:xfrm>
            <a:off x="12755700" y="7240856"/>
            <a:ext cx="10923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endParaRPr sz="26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g3dc288aeda7_2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dc288aeda7_2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dc288aeda7_2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3dc288aeda7_2_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dc288aeda7_2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dc288aeda7_2_2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dc288aeda7_2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43987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dc288aeda7_2_2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dc288aeda7_2_27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dc288aeda7_2_27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dc288aeda7_2_271"/>
          <p:cNvSpPr txBox="1"/>
          <p:nvPr/>
        </p:nvSpPr>
        <p:spPr>
          <a:xfrm>
            <a:off x="7467600" y="2336800"/>
            <a:ext cx="13514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FIFO </a:t>
            </a:r>
            <a:r>
              <a:rPr lang="en-US" sz="7200">
                <a:solidFill>
                  <a:srgbClr val="545454"/>
                </a:solidFill>
              </a:rPr>
              <a:t>Simulation</a:t>
            </a:r>
            <a:r>
              <a:rPr lang="en-US" sz="7200">
                <a:solidFill>
                  <a:srgbClr val="545454"/>
                </a:solidFill>
              </a:rPr>
              <a:t> 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5" name="Google Shape;505;g3dc288aeda7_2_271"/>
          <p:cNvGraphicFramePr/>
          <p:nvPr/>
        </p:nvGraphicFramePr>
        <p:xfrm>
          <a:off x="18344675" y="179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482250"/>
                <a:gridCol w="3115000"/>
              </a:tblGrid>
              <a:tr h="40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검증 항목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확인 내용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1. Full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DEPTH</a:t>
                      </a:r>
                      <a:r>
                        <a:rPr b="1" lang="en-US" sz="1300"/>
                        <a:t>만큼 Push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full=1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2. Empty Case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모든 데이터 Pop 후 </a:t>
                      </a: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empty=1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3. Data Order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pop_data == compare_data</a:t>
                      </a:r>
                      <a:endParaRPr b="1"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4. Random Test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Push/Pop 랜덤 입력 검증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5. Flag Check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compare_count</a:t>
                      </a:r>
                      <a:r>
                        <a:rPr b="1" lang="en-US" sz="1300"/>
                        <a:t>기준 full/empty 비교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506" name="Google Shape;506;g3dc288aeda7_2_271"/>
          <p:cNvSpPr txBox="1"/>
          <p:nvPr/>
        </p:nvSpPr>
        <p:spPr>
          <a:xfrm>
            <a:off x="11220550" y="1087552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g3dc288aeda7_2_2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92225" y="10265875"/>
            <a:ext cx="10762499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dc288aeda7_2_271"/>
          <p:cNvSpPr txBox="1"/>
          <p:nvPr/>
        </p:nvSpPr>
        <p:spPr>
          <a:xfrm>
            <a:off x="1601300" y="10474300"/>
            <a:ext cx="10762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AutoNum type="arabicPeriod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compare_data_count = 0  = &gt; empty = 1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g3dc288aeda7_2_2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63804" y="10289687"/>
            <a:ext cx="10391476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dc288aeda7_2_271"/>
          <p:cNvSpPr txBox="1"/>
          <p:nvPr/>
        </p:nvSpPr>
        <p:spPr>
          <a:xfrm>
            <a:off x="12478825" y="10497395"/>
            <a:ext cx="10762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compare_data_count = 64 =&gt; full = 1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g3dc288aeda7_2_27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69113" y="5946125"/>
            <a:ext cx="1041082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dc288aeda7_2_271"/>
          <p:cNvSpPr txBox="1"/>
          <p:nvPr/>
        </p:nvSpPr>
        <p:spPr>
          <a:xfrm>
            <a:off x="2477275" y="4452850"/>
            <a:ext cx="11065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compare_data_count 기준으로 full/empty flag를 자동 비교 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dc288aeda7_2_271"/>
          <p:cNvSpPr/>
          <p:nvPr/>
        </p:nvSpPr>
        <p:spPr>
          <a:xfrm>
            <a:off x="7467600" y="8828975"/>
            <a:ext cx="1599300" cy="87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dc288aeda7_2_271"/>
          <p:cNvSpPr/>
          <p:nvPr/>
        </p:nvSpPr>
        <p:spPr>
          <a:xfrm>
            <a:off x="10277600" y="8828975"/>
            <a:ext cx="819300" cy="82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dc288aeda7_2_271"/>
          <p:cNvSpPr txBox="1"/>
          <p:nvPr/>
        </p:nvSpPr>
        <p:spPr>
          <a:xfrm>
            <a:off x="9411700" y="8317938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g3dc288aeda7_2_27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478825" y="5917300"/>
            <a:ext cx="6648450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dc288aeda7_2_27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253204" y="7361375"/>
            <a:ext cx="3615542" cy="14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dc288aeda7_2_271"/>
          <p:cNvSpPr/>
          <p:nvPr/>
        </p:nvSpPr>
        <p:spPr>
          <a:xfrm>
            <a:off x="17908875" y="8317950"/>
            <a:ext cx="819300" cy="142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dc288aeda7_2_271"/>
          <p:cNvSpPr txBox="1"/>
          <p:nvPr/>
        </p:nvSpPr>
        <p:spPr>
          <a:xfrm>
            <a:off x="17290850" y="8505613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g3dc288aeda7_2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3dc288aeda7_2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dc288aeda7_2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dc288aeda7_2_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dc288aeda7_2_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3dc288aeda7_2_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dc288aeda7_2_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15875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dc288aeda7_2_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dc288aeda7_2_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dc288aeda7_2_7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dc288aeda7_2_70"/>
          <p:cNvSpPr txBox="1"/>
          <p:nvPr/>
        </p:nvSpPr>
        <p:spPr>
          <a:xfrm>
            <a:off x="7467600" y="2336800"/>
            <a:ext cx="149097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5800">
                <a:solidFill>
                  <a:srgbClr val="545454"/>
                </a:solidFill>
              </a:rPr>
              <a:t>ASCII Decoder - PC </a:t>
            </a:r>
            <a:r>
              <a:rPr lang="en-US" sz="5800">
                <a:solidFill>
                  <a:srgbClr val="545454"/>
                </a:solidFill>
              </a:rPr>
              <a:t>명령어와 FPGA 입력 동작</a:t>
            </a:r>
            <a:r>
              <a:rPr lang="en-US" sz="6900">
                <a:solidFill>
                  <a:srgbClr val="545454"/>
                </a:solidFill>
              </a:rPr>
              <a:t> </a:t>
            </a:r>
            <a:r>
              <a:rPr lang="en-US" sz="6900">
                <a:solidFill>
                  <a:srgbClr val="545454"/>
                </a:solidFill>
              </a:rPr>
              <a:t> 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5" name="Google Shape;535;g3dc288aeda7_2_70"/>
          <p:cNvGraphicFramePr/>
          <p:nvPr/>
        </p:nvGraphicFramePr>
        <p:xfrm>
          <a:off x="2807914" y="6015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860700"/>
                <a:gridCol w="2755825"/>
                <a:gridCol w="2647100"/>
                <a:gridCol w="3240050"/>
              </a:tblGrid>
              <a:tr h="512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구분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명령어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내부 입력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기능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STW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SW[1:0]=00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Stopwatch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WTC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SW[1:0]=01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ULT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SW[1:0]=10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Ultrasonic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DHT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SW[1:0]=11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DHT11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Display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D0_</a:t>
                      </a:r>
                      <a:r>
                        <a:rPr b="1" lang="en-US" sz="2000"/>
                        <a:t> /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D1_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SW[2]=0/1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표시 데이터 선택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</a:t>
                      </a:r>
                      <a:r>
                        <a:rPr b="1" lang="en-US" sz="2000"/>
                        <a:t> /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SW[3]=0/1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 실행/설정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STW Button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PAU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CLR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REV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BTN_R/L/D</a:t>
                      </a:r>
                      <a:r>
                        <a:rPr b="1" lang="en-US" sz="2000"/>
                        <a:t> pulse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시작/정지/초기화/방향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 Button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RGT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LFT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UP_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DWN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BTN_R/L/U/D</a:t>
                      </a:r>
                      <a:r>
                        <a:rPr b="1" lang="en-US" sz="2000"/>
                        <a:t> pulse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자리 이동/값 변경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Sensor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TRG</a:t>
                      </a:r>
                      <a:r>
                        <a:rPr b="1" lang="en-US" sz="2000"/>
                        <a:t>, </a:t>
                      </a: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MEA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BTN_R</a:t>
                      </a:r>
                      <a:r>
                        <a:rPr b="1" lang="en-US" sz="2000"/>
                        <a:t> pulse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센서 측정 요청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Status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STS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status_req</a:t>
                      </a:r>
                      <a:r>
                        <a:rPr b="1" lang="en-US" sz="2000"/>
                        <a:t> pulse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PC로 현재 상태 송신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Google Shape;536;g3dc288aeda7_2_70"/>
          <p:cNvGraphicFramePr/>
          <p:nvPr/>
        </p:nvGraphicFramePr>
        <p:xfrm>
          <a:off x="14624875" y="596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2139825"/>
                <a:gridCol w="853150"/>
                <a:gridCol w="1620150"/>
                <a:gridCol w="2278775"/>
              </a:tblGrid>
              <a:tr h="52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FPGA 입력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값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PC 명령어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동작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STW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Stopwatch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WTC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ULT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Ultrasonic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SW[1:0]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DHT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DHT11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SW[2]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D0_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Display 0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SW[2]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D1_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Display 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SW[3]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 Run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SW[3]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SET</a:t>
                      </a:r>
                      <a:endParaRPr b="1"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Watch Set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37" name="Google Shape;537;g3dc288aeda7_2_70"/>
          <p:cNvSpPr txBox="1"/>
          <p:nvPr/>
        </p:nvSpPr>
        <p:spPr>
          <a:xfrm>
            <a:off x="2226875" y="4444000"/>
            <a:ext cx="124956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ASCII Command → Virtual SW/BTN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c288aeda7_2_70"/>
          <p:cNvSpPr txBox="1"/>
          <p:nvPr/>
        </p:nvSpPr>
        <p:spPr>
          <a:xfrm>
            <a:off x="5981700" y="5285504"/>
            <a:ext cx="402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 명령어 전체 동작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dc288aeda7_2_70"/>
          <p:cNvSpPr txBox="1"/>
          <p:nvPr/>
        </p:nvSpPr>
        <p:spPr>
          <a:xfrm>
            <a:off x="16467825" y="5369500"/>
            <a:ext cx="402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SW별 모드 및 동작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g3dbddf81f9d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dbddf81f9d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dbddf81f9d_3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dbddf81f9d_3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dbddf81f9d_3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dbddf81f9d_3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dbddf81f9d_3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875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3dbddf81f9d_3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3dbddf81f9d_3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dbddf81f9d_3_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dbddf81f9d_3_0"/>
          <p:cNvSpPr txBox="1"/>
          <p:nvPr/>
        </p:nvSpPr>
        <p:spPr>
          <a:xfrm>
            <a:off x="7244000" y="2372075"/>
            <a:ext cx="14498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Decoder - ASM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dbddf81f9d_3_0"/>
          <p:cNvSpPr txBox="1"/>
          <p:nvPr/>
        </p:nvSpPr>
        <p:spPr>
          <a:xfrm>
            <a:off x="12347225" y="5118100"/>
            <a:ext cx="903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6" name="Google Shape;556;g3dbddf81f9d_3_0"/>
          <p:cNvGrpSpPr/>
          <p:nvPr/>
        </p:nvGrpSpPr>
        <p:grpSpPr>
          <a:xfrm>
            <a:off x="1889688" y="8403875"/>
            <a:ext cx="6548424" cy="1020264"/>
            <a:chOff x="7182340" y="11256012"/>
            <a:chExt cx="5133603" cy="1208414"/>
          </a:xfrm>
        </p:grpSpPr>
        <p:pic>
          <p:nvPicPr>
            <p:cNvPr id="557" name="Google Shape;557;g3dbddf81f9d_3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g3dbddf81f9d_3_0"/>
            <p:cNvSpPr txBox="1"/>
            <p:nvPr/>
          </p:nvSpPr>
          <p:spPr>
            <a:xfrm>
              <a:off x="7182340" y="11402553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※ 3byte가 완성되기</a:t>
              </a:r>
              <a:r>
                <a:rPr b="1" lang="en-US" sz="2398">
                  <a:solidFill>
                    <a:srgbClr val="545454"/>
                  </a:solidFill>
                </a:rPr>
                <a:t> </a:t>
              </a:r>
              <a:r>
                <a:rPr b="1" lang="en-US" sz="2398">
                  <a:solidFill>
                    <a:srgbClr val="545454"/>
                  </a:solidFill>
                </a:rPr>
                <a:t>전에 </a:t>
              </a:r>
              <a:br>
                <a:rPr b="1" lang="en-US" sz="2398">
                  <a:solidFill>
                    <a:srgbClr val="545454"/>
                  </a:solidFill>
                </a:rPr>
              </a:br>
              <a:r>
                <a:rPr b="1" lang="en-US" sz="2398">
                  <a:solidFill>
                    <a:srgbClr val="545454"/>
                  </a:solidFill>
                </a:rPr>
                <a:t>CR/LF가 들어오면 Error로 처리</a:t>
              </a:r>
              <a:r>
                <a:rPr b="1" lang="en-US" sz="1998">
                  <a:solidFill>
                    <a:srgbClr val="545454"/>
                  </a:solidFill>
                </a:rPr>
                <a:t>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grpSp>
        <p:nvGrpSpPr>
          <p:cNvPr id="559" name="Google Shape;559;g3dbddf81f9d_3_0"/>
          <p:cNvGrpSpPr/>
          <p:nvPr/>
        </p:nvGrpSpPr>
        <p:grpSpPr>
          <a:xfrm>
            <a:off x="15686045" y="9362708"/>
            <a:ext cx="7003261" cy="2296712"/>
            <a:chOff x="7236566" y="10900821"/>
            <a:chExt cx="5133603" cy="1208414"/>
          </a:xfrm>
        </p:grpSpPr>
        <p:pic>
          <p:nvPicPr>
            <p:cNvPr id="560" name="Google Shape;560;g3dbddf81f9d_3_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14383" y="10900821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g3dbddf81f9d_3_0"/>
            <p:cNvSpPr txBox="1"/>
            <p:nvPr/>
          </p:nvSpPr>
          <p:spPr>
            <a:xfrm>
              <a:off x="7236566" y="11047363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1. 3byte 문자열을 결합연산자를 이용하여</a:t>
              </a:r>
              <a:br>
                <a:rPr b="1" lang="en-US" sz="2398">
                  <a:solidFill>
                    <a:srgbClr val="545454"/>
                  </a:solidFill>
                </a:rPr>
              </a:br>
              <a:r>
                <a:rPr b="1" lang="en-US" sz="2398">
                  <a:solidFill>
                    <a:srgbClr val="545454"/>
                  </a:solidFill>
                </a:rPr>
                <a:t>command word 묶어 case문 비교</a:t>
              </a:r>
              <a:endParaRPr b="1" sz="2398">
                <a:solidFill>
                  <a:srgbClr val="545454"/>
                </a:solidFill>
              </a:endParaRPr>
            </a:p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2.Decode 결과를 Virtual SW/BTN 또는 </a:t>
              </a:r>
              <a:br>
                <a:rPr b="1" lang="en-US" sz="2398">
                  <a:solidFill>
                    <a:srgbClr val="545454"/>
                  </a:solidFill>
                </a:rPr>
              </a:br>
              <a:r>
                <a:rPr b="1" lang="en-US" sz="2398">
                  <a:solidFill>
                    <a:srgbClr val="545454"/>
                  </a:solidFill>
                </a:rPr>
                <a:t>Status Request로 출력 </a:t>
              </a:r>
              <a:r>
                <a:rPr b="1" lang="en-US" sz="1998">
                  <a:solidFill>
                    <a:srgbClr val="545454"/>
                  </a:solidFill>
                </a:rPr>
                <a:t>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sp>
        <p:nvSpPr>
          <p:cNvPr id="562" name="Google Shape;562;g3dbddf81f9d_3_0"/>
          <p:cNvSpPr/>
          <p:nvPr/>
        </p:nvSpPr>
        <p:spPr>
          <a:xfrm rot="-1144456">
            <a:off x="14804386" y="10813488"/>
            <a:ext cx="1105285" cy="37484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3" name="Google Shape;563;g3dbddf81f9d_3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465075" y="4384424"/>
            <a:ext cx="5403050" cy="8104551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dbddf81f9d_3_0"/>
          <p:cNvSpPr/>
          <p:nvPr/>
        </p:nvSpPr>
        <p:spPr>
          <a:xfrm rot="8468129">
            <a:off x="8552293" y="7580474"/>
            <a:ext cx="1835912" cy="27821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dbddf81f9d_3_0"/>
          <p:cNvSpPr/>
          <p:nvPr/>
        </p:nvSpPr>
        <p:spPr>
          <a:xfrm rot="-8840848">
            <a:off x="8452435" y="9838031"/>
            <a:ext cx="2035612" cy="27795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dbddf81f9d_3_0"/>
          <p:cNvSpPr/>
          <p:nvPr/>
        </p:nvSpPr>
        <p:spPr>
          <a:xfrm>
            <a:off x="13111625" y="10830825"/>
            <a:ext cx="1756500" cy="82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g3dc288aeda7_2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3dc288aeda7_2_3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3dc288aeda7_2_3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dc288aeda7_2_3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dc288aeda7_2_3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dc288aeda7_2_30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dc288aeda7_2_30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2950" y="15875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dc288aeda7_2_30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dc288aeda7_2_30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3dc288aeda7_2_30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dc288aeda7_2_307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Decoder </a:t>
            </a:r>
            <a:r>
              <a:rPr lang="en-US" sz="7200">
                <a:solidFill>
                  <a:srgbClr val="545454"/>
                </a:solidFill>
              </a:rPr>
              <a:t>Simulation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g3dc288aeda7_2_30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82024" y="5203191"/>
            <a:ext cx="13692974" cy="6212043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g3dc288aeda7_2_307"/>
          <p:cNvSpPr txBox="1"/>
          <p:nvPr/>
        </p:nvSpPr>
        <p:spPr>
          <a:xfrm>
            <a:off x="7929474" y="594420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dc288aeda7_2_307"/>
          <p:cNvSpPr/>
          <p:nvPr/>
        </p:nvSpPr>
        <p:spPr>
          <a:xfrm>
            <a:off x="8314149" y="6515450"/>
            <a:ext cx="5962800" cy="50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dc288aeda7_2_307"/>
          <p:cNvSpPr txBox="1"/>
          <p:nvPr/>
        </p:nvSpPr>
        <p:spPr>
          <a:xfrm>
            <a:off x="8827849" y="7760125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dc288aeda7_2_307"/>
          <p:cNvSpPr/>
          <p:nvPr/>
        </p:nvSpPr>
        <p:spPr>
          <a:xfrm>
            <a:off x="9445899" y="7700850"/>
            <a:ext cx="6729000" cy="1618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dc288aeda7_2_307"/>
          <p:cNvSpPr txBox="1"/>
          <p:nvPr/>
        </p:nvSpPr>
        <p:spPr>
          <a:xfrm>
            <a:off x="14212649" y="9737050"/>
            <a:ext cx="5211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dc288aeda7_2_307"/>
          <p:cNvSpPr/>
          <p:nvPr/>
        </p:nvSpPr>
        <p:spPr>
          <a:xfrm>
            <a:off x="14786774" y="9892400"/>
            <a:ext cx="1663500" cy="1358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" name="Google Shape;589;g3dc288aeda7_2_307"/>
          <p:cNvGrpSpPr/>
          <p:nvPr/>
        </p:nvGrpSpPr>
        <p:grpSpPr>
          <a:xfrm>
            <a:off x="6588938" y="4646425"/>
            <a:ext cx="2856519" cy="1020264"/>
            <a:chOff x="7260157" y="11256012"/>
            <a:chExt cx="5055786" cy="1208414"/>
          </a:xfrm>
        </p:grpSpPr>
        <p:pic>
          <p:nvPicPr>
            <p:cNvPr id="590" name="Google Shape;590;g3dc288aeda7_2_30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g3dc288aeda7_2_307"/>
            <p:cNvSpPr txBox="1"/>
            <p:nvPr/>
          </p:nvSpPr>
          <p:spPr>
            <a:xfrm>
              <a:off x="7260177" y="11425679"/>
              <a:ext cx="4884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98">
                  <a:solidFill>
                    <a:srgbClr val="545454"/>
                  </a:solidFill>
                </a:rPr>
                <a:t>ASCII byte 수신</a:t>
              </a:r>
              <a:endParaRPr sz="2898">
                <a:solidFill>
                  <a:srgbClr val="545454"/>
                </a:solidFill>
              </a:endParaRPr>
            </a:p>
          </p:txBody>
        </p:sp>
      </p:grpSp>
      <p:sp>
        <p:nvSpPr>
          <p:cNvPr id="592" name="Google Shape;592;g3dc288aeda7_2_307"/>
          <p:cNvSpPr/>
          <p:nvPr/>
        </p:nvSpPr>
        <p:spPr>
          <a:xfrm rot="3015910">
            <a:off x="9037119" y="5805335"/>
            <a:ext cx="1151219" cy="34470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3" name="Google Shape;593;g3dc288aeda7_2_307"/>
          <p:cNvGrpSpPr/>
          <p:nvPr/>
        </p:nvGrpSpPr>
        <p:grpSpPr>
          <a:xfrm>
            <a:off x="4914875" y="8299075"/>
            <a:ext cx="4197300" cy="1020275"/>
            <a:chOff x="6073630" y="11256012"/>
            <a:chExt cx="7428849" cy="1208427"/>
          </a:xfrm>
        </p:grpSpPr>
        <p:pic>
          <p:nvPicPr>
            <p:cNvPr id="594" name="Google Shape;594;g3dc288aeda7_2_30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073630" y="11256012"/>
              <a:ext cx="7428849" cy="12084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g3dc288aeda7_2_307"/>
            <p:cNvSpPr txBox="1"/>
            <p:nvPr/>
          </p:nvSpPr>
          <p:spPr>
            <a:xfrm>
              <a:off x="6083189" y="11425679"/>
              <a:ext cx="72390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98">
                  <a:solidFill>
                    <a:srgbClr val="545454"/>
                  </a:solidFill>
                </a:rPr>
                <a:t>command register 저장 </a:t>
              </a:r>
              <a:endParaRPr sz="2898">
                <a:solidFill>
                  <a:srgbClr val="545454"/>
                </a:solidFill>
              </a:endParaRPr>
            </a:p>
          </p:txBody>
        </p:sp>
      </p:grpSp>
      <p:sp>
        <p:nvSpPr>
          <p:cNvPr id="596" name="Google Shape;596;g3dc288aeda7_2_307"/>
          <p:cNvSpPr/>
          <p:nvPr/>
        </p:nvSpPr>
        <p:spPr>
          <a:xfrm rot="-1526">
            <a:off x="8926327" y="8696859"/>
            <a:ext cx="675900" cy="2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7" name="Google Shape;597;g3dc288aeda7_2_307"/>
          <p:cNvGrpSpPr/>
          <p:nvPr/>
        </p:nvGrpSpPr>
        <p:grpSpPr>
          <a:xfrm>
            <a:off x="16450279" y="6573700"/>
            <a:ext cx="6830596" cy="3004360"/>
            <a:chOff x="7345890" y="11136206"/>
            <a:chExt cx="5211013" cy="1208414"/>
          </a:xfrm>
        </p:grpSpPr>
        <p:pic>
          <p:nvPicPr>
            <p:cNvPr id="598" name="Google Shape;598;g3dc288aeda7_2_30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45890" y="11136206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g3dc288aeda7_2_307"/>
            <p:cNvSpPr txBox="1"/>
            <p:nvPr/>
          </p:nvSpPr>
          <p:spPr>
            <a:xfrm>
              <a:off x="7423303" y="11305860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DHT Decode Result</a:t>
              </a:r>
              <a:endParaRPr b="1" sz="2398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2398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• 입력 명령어 : DHT</a:t>
              </a:r>
              <a:endParaRPr b="1" sz="2398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• 출력 값 : o_virtual_sw = 0011</a:t>
              </a:r>
              <a:endParaRPr b="1" sz="2398">
                <a:solidFill>
                  <a:srgbClr val="545454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• 의미 : SW[1:0] = 11→ 온습도측정 모드 선택 </a:t>
              </a:r>
              <a:r>
                <a:rPr b="1" lang="en-US" sz="1998">
                  <a:solidFill>
                    <a:srgbClr val="545454"/>
                  </a:solidFill>
                </a:rPr>
                <a:t>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sp>
        <p:nvSpPr>
          <p:cNvPr id="600" name="Google Shape;600;g3dc288aeda7_2_307"/>
          <p:cNvSpPr/>
          <p:nvPr/>
        </p:nvSpPr>
        <p:spPr>
          <a:xfrm rot="7793480">
            <a:off x="16197387" y="9408459"/>
            <a:ext cx="898129" cy="33267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dc288aeda7_2_307"/>
          <p:cNvSpPr txBox="1"/>
          <p:nvPr/>
        </p:nvSpPr>
        <p:spPr>
          <a:xfrm>
            <a:off x="8387300" y="9226775"/>
            <a:ext cx="1282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dc288aeda7_2_307"/>
          <p:cNvSpPr txBox="1"/>
          <p:nvPr/>
        </p:nvSpPr>
        <p:spPr>
          <a:xfrm>
            <a:off x="10546150" y="9226775"/>
            <a:ext cx="1282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BYTE1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dc288aeda7_2_307"/>
          <p:cNvSpPr txBox="1"/>
          <p:nvPr/>
        </p:nvSpPr>
        <p:spPr>
          <a:xfrm>
            <a:off x="12795175" y="9226775"/>
            <a:ext cx="1282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BYTE2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dc288aeda7_2_307"/>
          <p:cNvSpPr txBox="1"/>
          <p:nvPr/>
        </p:nvSpPr>
        <p:spPr>
          <a:xfrm>
            <a:off x="14950763" y="9226775"/>
            <a:ext cx="1282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g3dc288aeda7_2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3dc288aeda7_2_3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3dc288aeda7_2_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dc288aeda7_2_3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g3dc288aeda7_2_3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3dc288aeda7_2_3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dc288aeda7_2_3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3dc288aeda7_2_3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g3dc288aeda7_2_3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3dc288aeda7_2_32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dc288aeda7_2_321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Decoder Simulation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g3dc288aeda7_2_3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300" y="4762500"/>
            <a:ext cx="14385349" cy="636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1" name="Google Shape;621;g3dc288aeda7_2_321"/>
          <p:cNvGrpSpPr/>
          <p:nvPr/>
        </p:nvGrpSpPr>
        <p:grpSpPr>
          <a:xfrm>
            <a:off x="16178854" y="6388675"/>
            <a:ext cx="6830596" cy="3004360"/>
            <a:chOff x="7345890" y="11136206"/>
            <a:chExt cx="5211013" cy="1208414"/>
          </a:xfrm>
        </p:grpSpPr>
        <p:pic>
          <p:nvPicPr>
            <p:cNvPr id="622" name="Google Shape;622;g3dc288aeda7_2_32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45890" y="11136206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g3dc288aeda7_2_321"/>
            <p:cNvSpPr txBox="1"/>
            <p:nvPr/>
          </p:nvSpPr>
          <p:spPr>
            <a:xfrm>
              <a:off x="7423303" y="11305860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00">
                  <a:solidFill>
                    <a:schemeClr val="dk1"/>
                  </a:solidFill>
                </a:rPr>
                <a:t>STS Decode Result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입력 명령어 : STS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출력 값 : o_status_req = 1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의미 : 현재 상태/데이터 전송 요청</a:t>
              </a:r>
              <a:endParaRPr b="1" sz="2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 </a:t>
              </a:r>
              <a:r>
                <a:rPr b="1" lang="en-US" sz="1998">
                  <a:solidFill>
                    <a:srgbClr val="545454"/>
                  </a:solidFill>
                </a:rPr>
                <a:t>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sp>
        <p:nvSpPr>
          <p:cNvPr id="624" name="Google Shape;624;g3dc288aeda7_2_321"/>
          <p:cNvSpPr/>
          <p:nvPr/>
        </p:nvSpPr>
        <p:spPr>
          <a:xfrm>
            <a:off x="6608224" y="6102175"/>
            <a:ext cx="5962800" cy="50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dc288aeda7_2_321"/>
          <p:cNvSpPr/>
          <p:nvPr/>
        </p:nvSpPr>
        <p:spPr>
          <a:xfrm>
            <a:off x="7751674" y="7423150"/>
            <a:ext cx="6729000" cy="1618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3dc288aeda7_2_321"/>
          <p:cNvSpPr/>
          <p:nvPr/>
        </p:nvSpPr>
        <p:spPr>
          <a:xfrm>
            <a:off x="13295800" y="9829650"/>
            <a:ext cx="1473000" cy="56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dc288aeda7_2_321"/>
          <p:cNvSpPr txBox="1"/>
          <p:nvPr/>
        </p:nvSpPr>
        <p:spPr>
          <a:xfrm>
            <a:off x="10886175" y="9857125"/>
            <a:ext cx="23274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status_req</a:t>
            </a:r>
            <a:endParaRPr sz="33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g3dbddf81f9d_3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g3dbddf81f9d_3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dbddf81f9d_3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dbddf81f9d_3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g3dbddf81f9d_3_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g3dbddf81f9d_3_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g3dbddf81f9d_3_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g3dbddf81f9d_3_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g3dbddf81f9d_3_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dbddf81f9d_3_14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dbddf81f9d_3_14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Decoder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g3dbddf81f9d_3_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07000" y="5849125"/>
            <a:ext cx="11353401" cy="4651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4" name="Google Shape;644;g3dbddf81f9d_3_14"/>
          <p:cNvGraphicFramePr/>
          <p:nvPr/>
        </p:nvGraphicFramePr>
        <p:xfrm>
          <a:off x="14482125" y="511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2074375"/>
                <a:gridCol w="51859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명령어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기대 출력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STW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SW=0000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MASK=0011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WTC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SW=0001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MASK=0011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ULT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SW=0010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MASK=0011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DHT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SW=0011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MASK=0011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D0_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SW=0000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MASK=0100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D1_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SW=0100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MASK=0100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SW=0000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MASK=1000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SET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SW=1000</a:t>
                      </a:r>
                      <a:r>
                        <a:rPr lang="en-US" sz="1600"/>
                        <a:t>,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MASK=1000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5" name="Google Shape;645;g3dbddf81f9d_3_14"/>
          <p:cNvGraphicFramePr/>
          <p:nvPr/>
        </p:nvGraphicFramePr>
        <p:xfrm>
          <a:off x="14482125" y="933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2074375"/>
                <a:gridCol w="33103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명령어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기대 출력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 R=1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CLR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 L=1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UP_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 U=1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DWN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BTN D=1</a:t>
                      </a:r>
                      <a:endParaRPr sz="16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g3dc288aeda7_2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g3dc288aeda7_2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dc288aeda7_2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dc288aeda7_2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dc288aeda7_2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g3dc288aeda7_2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3dc288aeda7_2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g3dc288aeda7_2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g3dc288aeda7_2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dc288aeda7_2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dc288aeda7_2_1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Sender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1" name="Google Shape;661;g3dc288aeda7_2_1"/>
          <p:cNvGraphicFramePr/>
          <p:nvPr/>
        </p:nvGraphicFramePr>
        <p:xfrm>
          <a:off x="14297375" y="814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132400"/>
                <a:gridCol w="3170700"/>
                <a:gridCol w="1434375"/>
              </a:tblGrid>
              <a:tr h="674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출력 포맷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길이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3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STW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STW HH:MM:SS.ms\r\n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17 byte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3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WTC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WTC HH:MM:SS.ms\r\n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17 byte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1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ULT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ULT DDDcm\r\n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 byte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1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DHT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DHT H=HH T=TT\r\n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 byte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662" name="Google Shape;662;g3dc288aeda7_2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55800" y="4891704"/>
            <a:ext cx="11070674" cy="66490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3" name="Google Shape;663;g3dc288aeda7_2_1"/>
          <p:cNvGraphicFramePr/>
          <p:nvPr/>
        </p:nvGraphicFramePr>
        <p:xfrm>
          <a:off x="11551375" y="534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{BB0A5416-BBC3-4007-BDF7-36F45EA26ED7}</a:tableStyleId>
              </a:tblPr>
              <a:tblGrid>
                <a:gridCol w="1193625"/>
                <a:gridCol w="2529175"/>
                <a:gridCol w="73478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State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설명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출력/동작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IDLE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상태 요청 대기</a:t>
                      </a:r>
                      <a:endParaRPr sz="21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i_status_req == 1</a:t>
                      </a:r>
                      <a:r>
                        <a:rPr lang="en-US" sz="1800"/>
                        <a:t>이면 현재 </a:t>
                      </a:r>
                      <a:r>
                        <a:rPr lang="en-US" sz="1800"/>
                        <a:t>상태,</a:t>
                      </a:r>
                      <a:r>
                        <a:rPr lang="en-US" sz="1800"/>
                        <a:t> 데이터 </a:t>
                      </a:r>
                      <a:r>
                        <a:rPr lang="en-US" sz="1800"/>
                        <a:t>내부 레지스터에 저장</a:t>
                      </a:r>
                      <a:r>
                        <a:rPr lang="en-US" sz="1800"/>
                        <a:t>, </a:t>
                      </a:r>
                      <a:br>
                        <a:rPr lang="en-US" sz="1800"/>
                      </a:br>
                      <a:r>
                        <a:rPr lang="en-US" sz="1800"/>
                        <a:t>전송할 문자열 길이 (</a:t>
                      </a: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tx_len)</a:t>
                      </a:r>
                      <a:r>
                        <a:rPr lang="en-US" sz="1800"/>
                        <a:t> 설정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SEND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ASCII 문자열 전송</a:t>
                      </a:r>
                      <a:endParaRPr sz="21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char_idx</a:t>
                      </a:r>
                      <a:r>
                        <a:rPr lang="en-US" sz="1800"/>
                        <a:t>에 따라 ASCII byte 생성, </a:t>
                      </a:r>
                      <a:br>
                        <a:rPr lang="en-US" sz="1800"/>
                      </a:br>
                      <a:r>
                        <a:rPr lang="en-US" sz="1800"/>
                        <a:t>TX FIFO가 full이 아니면 </a:t>
                      </a: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o_fifo_wr_en=1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DONE</a:t>
                      </a:r>
                      <a:endParaRPr sz="1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전송 완료</a:t>
                      </a:r>
                      <a:endParaRPr sz="21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한 문자열 전송 완료 후 </a:t>
                      </a: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IDLE</a:t>
                      </a:r>
                      <a:r>
                        <a:rPr lang="en-US" sz="1800"/>
                        <a:t> 복귀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g3dc288aeda7_2_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g3dc288aeda7_2_4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g3dc288aeda7_2_4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3dc288aeda7_2_4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g3dc288aeda7_2_4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g3dc288aeda7_2_4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g3dc288aeda7_2_4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875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g3dc288aeda7_2_4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g3dc288aeda7_2_4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3dc288aeda7_2_40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g3dc288aeda7_2_400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Sender - </a:t>
            </a:r>
            <a:r>
              <a:rPr lang="en-US" sz="7200">
                <a:solidFill>
                  <a:srgbClr val="545454"/>
                </a:solidFill>
              </a:rPr>
              <a:t>시뮬레이션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9" name="Google Shape;679;g3dc288aeda7_2_4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32294" y="5025503"/>
            <a:ext cx="14830425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dc288aeda7_2_400"/>
          <p:cNvSpPr/>
          <p:nvPr/>
        </p:nvSpPr>
        <p:spPr>
          <a:xfrm>
            <a:off x="6087381" y="6221453"/>
            <a:ext cx="2057700" cy="2151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1" name="Google Shape;681;g3dc288aeda7_2_400"/>
          <p:cNvGrpSpPr/>
          <p:nvPr/>
        </p:nvGrpSpPr>
        <p:grpSpPr>
          <a:xfrm>
            <a:off x="8492369" y="5422553"/>
            <a:ext cx="2856519" cy="1020264"/>
            <a:chOff x="7260157" y="11256012"/>
            <a:chExt cx="5055786" cy="1208414"/>
          </a:xfrm>
        </p:grpSpPr>
        <p:pic>
          <p:nvPicPr>
            <p:cNvPr id="682" name="Google Shape;682;g3dc288aeda7_2_40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g3dc288aeda7_2_400"/>
            <p:cNvSpPr txBox="1"/>
            <p:nvPr/>
          </p:nvSpPr>
          <p:spPr>
            <a:xfrm>
              <a:off x="7260177" y="11425679"/>
              <a:ext cx="4884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98">
                  <a:solidFill>
                    <a:srgbClr val="545454"/>
                  </a:solidFill>
                </a:rPr>
                <a:t>Status Request</a:t>
              </a:r>
              <a:r>
                <a:rPr lang="en-US" sz="2898">
                  <a:solidFill>
                    <a:srgbClr val="545454"/>
                  </a:solidFill>
                </a:rPr>
                <a:t> </a:t>
              </a:r>
              <a:endParaRPr sz="2898">
                <a:solidFill>
                  <a:srgbClr val="545454"/>
                </a:solidFill>
              </a:endParaRPr>
            </a:p>
          </p:txBody>
        </p:sp>
      </p:grpSp>
      <p:sp>
        <p:nvSpPr>
          <p:cNvPr id="684" name="Google Shape;684;g3dc288aeda7_2_400"/>
          <p:cNvSpPr/>
          <p:nvPr/>
        </p:nvSpPr>
        <p:spPr>
          <a:xfrm>
            <a:off x="6733656" y="9336853"/>
            <a:ext cx="10029000" cy="1092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5" name="Google Shape;685;g3dc288aeda7_2_400"/>
          <p:cNvGrpSpPr/>
          <p:nvPr/>
        </p:nvGrpSpPr>
        <p:grpSpPr>
          <a:xfrm>
            <a:off x="8575604" y="10572353"/>
            <a:ext cx="6201933" cy="1020264"/>
            <a:chOff x="7260157" y="11256012"/>
            <a:chExt cx="5055786" cy="1208414"/>
          </a:xfrm>
        </p:grpSpPr>
        <p:pic>
          <p:nvPicPr>
            <p:cNvPr id="686" name="Google Shape;686;g3dc288aeda7_2_40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60157" y="11256012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g3dc288aeda7_2_400"/>
            <p:cNvSpPr txBox="1"/>
            <p:nvPr/>
          </p:nvSpPr>
          <p:spPr>
            <a:xfrm>
              <a:off x="7260177" y="11425679"/>
              <a:ext cx="4884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98">
                  <a:solidFill>
                    <a:srgbClr val="545454"/>
                  </a:solidFill>
                </a:rPr>
                <a:t>ASCII byte 순차 출력 </a:t>
              </a:r>
              <a:r>
                <a:rPr lang="en-US" sz="2898">
                  <a:solidFill>
                    <a:srgbClr val="545454"/>
                  </a:solidFill>
                </a:rPr>
                <a:t> </a:t>
              </a:r>
              <a:endParaRPr sz="2898">
                <a:solidFill>
                  <a:srgbClr val="545454"/>
                </a:solidFill>
              </a:endParaRPr>
            </a:p>
          </p:txBody>
        </p:sp>
      </p:grpSp>
      <p:sp>
        <p:nvSpPr>
          <p:cNvPr id="688" name="Google Shape;688;g3dc288aeda7_2_400"/>
          <p:cNvSpPr txBox="1"/>
          <p:nvPr/>
        </p:nvSpPr>
        <p:spPr>
          <a:xfrm>
            <a:off x="6922281" y="8466478"/>
            <a:ext cx="120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dc288aeda7_2_400"/>
          <p:cNvSpPr txBox="1"/>
          <p:nvPr/>
        </p:nvSpPr>
        <p:spPr>
          <a:xfrm>
            <a:off x="12342831" y="8466478"/>
            <a:ext cx="120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SEND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dc288aeda7_2_400"/>
          <p:cNvSpPr txBox="1"/>
          <p:nvPr/>
        </p:nvSpPr>
        <p:spPr>
          <a:xfrm>
            <a:off x="15670231" y="8066203"/>
            <a:ext cx="1204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dc288aeda7_2_400"/>
          <p:cNvSpPr/>
          <p:nvPr/>
        </p:nvSpPr>
        <p:spPr>
          <a:xfrm rot="7824125">
            <a:off x="8055515" y="6543094"/>
            <a:ext cx="1151127" cy="3447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dc288aeda7_2_400"/>
          <p:cNvSpPr/>
          <p:nvPr/>
        </p:nvSpPr>
        <p:spPr>
          <a:xfrm rot="-5400896">
            <a:off x="7723724" y="10576087"/>
            <a:ext cx="1151100" cy="3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3" name="Google Shape;693;g3dc288aeda7_2_400"/>
          <p:cNvGrpSpPr/>
          <p:nvPr/>
        </p:nvGrpSpPr>
        <p:grpSpPr>
          <a:xfrm>
            <a:off x="16923100" y="6489600"/>
            <a:ext cx="6382608" cy="2443897"/>
            <a:chOff x="7324820" y="11264124"/>
            <a:chExt cx="5133602" cy="1208414"/>
          </a:xfrm>
        </p:grpSpPr>
        <p:pic>
          <p:nvPicPr>
            <p:cNvPr id="694" name="Google Shape;694;g3dc288aeda7_2_40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24820" y="11264124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g3dc288aeda7_2_400"/>
            <p:cNvSpPr txBox="1"/>
            <p:nvPr/>
          </p:nvSpPr>
          <p:spPr>
            <a:xfrm>
              <a:off x="7324823" y="11526816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chemeClr val="dk1"/>
                  </a:solidFill>
                </a:rPr>
                <a:t>STW 출력 예시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mode = STW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c</a:t>
              </a:r>
              <a:r>
                <a:rPr b="1" lang="en-US" sz="2300">
                  <a:solidFill>
                    <a:schemeClr val="dk1"/>
                  </a:solidFill>
                </a:rPr>
                <a:t>har_idx에 따라 ASCII byte 순차 생성 및 출력</a:t>
              </a:r>
              <a:endParaRPr b="1" sz="2300">
                <a:solidFill>
                  <a:schemeClr val="dk1"/>
                </a:solidFill>
              </a:endParaRPr>
            </a:p>
            <a:p>
              <a:pPr indent="-3746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Char char="●"/>
              </a:pPr>
              <a:r>
                <a:rPr b="1" lang="en-US" sz="2300">
                  <a:solidFill>
                    <a:schemeClr val="dk1"/>
                  </a:solidFill>
                </a:rPr>
                <a:t>출력 문자열: STW 12:34:56.78\r\n </a:t>
              </a:r>
              <a:endParaRPr b="1" sz="2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9213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 </a:t>
              </a:r>
              <a:r>
                <a:rPr b="1" lang="en-US" sz="1998">
                  <a:solidFill>
                    <a:srgbClr val="545454"/>
                  </a:solidFill>
                </a:rPr>
                <a:t> 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g3dc288aeda7_2_4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dc288aeda7_2_4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dc288aeda7_2_4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dc288aeda7_2_4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dc288aeda7_2_4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g3dc288aeda7_2_4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g3dc288aeda7_2_4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g3dc288aeda7_2_4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g3dc288aeda7_2_4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g3dc288aeda7_2_44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dc288aeda7_2_447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ASCII Sender - 시뮬레이션</a:t>
            </a:r>
            <a:endParaRPr sz="7200"/>
          </a:p>
        </p:txBody>
      </p:sp>
      <p:pic>
        <p:nvPicPr>
          <p:cNvPr id="711" name="Google Shape;711;g3dc288aeda7_2_4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383300" y="5383100"/>
            <a:ext cx="85534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g3dc288aeda7_2_4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35225" y="4978500"/>
            <a:ext cx="8610600" cy="53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g3dc288aeda7_2_4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703850" y="10759775"/>
            <a:ext cx="18976301" cy="1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dc288aeda7_2_447"/>
          <p:cNvSpPr txBox="1"/>
          <p:nvPr/>
        </p:nvSpPr>
        <p:spPr>
          <a:xfrm>
            <a:off x="3330500" y="11172600"/>
            <a:ext cx="18411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TCL Console의 로그를 통해 WTC/ULT 모드의 ASCII 출력 문자열이 기대 포맷과 일치함을 확인하였다.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System Control Unit</a:t>
            </a:r>
            <a:endParaRPr b="0" i="0" sz="72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0" name="Google Shape;730;p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93522" y="4419600"/>
            <a:ext cx="9658926" cy="7871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1" name="Google Shape;731;p4"/>
          <p:cNvGraphicFramePr/>
          <p:nvPr/>
        </p:nvGraphicFramePr>
        <p:xfrm>
          <a:off x="13105550" y="478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3846750"/>
                <a:gridCol w="4907075"/>
              </a:tblGrid>
              <a:tr h="14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system control unit 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외부 입력 switch, button 의 입력을 내부 모듈에 연결해준다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main mode decoder sys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현재 시스템의 메인 동작 모드를 해석하는 디코더. </a:t>
                      </a: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sw[1:0]</a:t>
                      </a: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를 입력으로 받아 4개의 신호를 출력하는 2x4 decoder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timer switch router sys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timer </a:t>
                      </a: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모듈용 입력 신호 생성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button router sys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현재 모드에 따라 버튼 입력을 해당 모듈로 전달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43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fnd sel router sys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888888"/>
                          </a:solidFill>
                        </a:rPr>
                        <a:t>현재 모드에 따라 FND에 표시할 데이터 결정</a:t>
                      </a:r>
                      <a:endParaRPr sz="25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g3e61982b481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g3e61982b481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g3e61982b481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3e61982b481_0_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g3e61982b481_0_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e61982b481_0_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g3e61982b481_0_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15849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g3e61982b481_0_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3e61982b481_0_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e61982b481_0_3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e61982b481_0_39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SPEC</a:t>
            </a:r>
            <a:endParaRPr sz="7200">
              <a:solidFill>
                <a:srgbClr val="545454"/>
              </a:solidFill>
            </a:endParaRPr>
          </a:p>
        </p:txBody>
      </p:sp>
      <p:pic>
        <p:nvPicPr>
          <p:cNvPr id="747" name="Google Shape;747;g3e61982b481_0_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901513" y="4767400"/>
            <a:ext cx="7299775" cy="7299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8" name="Google Shape;748;g3e61982b481_0_39"/>
          <p:cNvGraphicFramePr/>
          <p:nvPr/>
        </p:nvGraphicFramePr>
        <p:xfrm>
          <a:off x="3203250" y="574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3597100"/>
                <a:gridCol w="4588625"/>
              </a:tblGrid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항목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SPEC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측정거리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2cm ~ 400cm 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초음파 주파수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40kHz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측정 각도 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약 15° 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Trigger 입력 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최소 10µs HIGH pulse 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핀 구성 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VCC, TRIG, ECHO, GND 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g3df7f514e62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g3df7f514e62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g3df7f514e62_1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g3df7f514e62_1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g3df7f514e62_1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g3df7f514e62_1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g3df7f514e62_1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15849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g3df7f514e62_1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g3df7f514e62_1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3df7f514e62_1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df7f514e62_1_1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원리</a:t>
            </a:r>
            <a:endParaRPr sz="7200">
              <a:solidFill>
                <a:srgbClr val="545454"/>
              </a:solidFill>
            </a:endParaRPr>
          </a:p>
        </p:txBody>
      </p:sp>
      <p:pic>
        <p:nvPicPr>
          <p:cNvPr id="764" name="Google Shape;764;g3df7f514e62_1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37800" y="5884450"/>
            <a:ext cx="11092900" cy="450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g3df7f514e62_1_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672625" y="5884450"/>
            <a:ext cx="6704775" cy="47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g3df7f514e62_1_1"/>
          <p:cNvSpPr txBox="1"/>
          <p:nvPr/>
        </p:nvSpPr>
        <p:spPr>
          <a:xfrm>
            <a:off x="15904713" y="6108500"/>
            <a:ext cx="62406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초음파 속도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340 m/s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0.034 cm/µs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거리 = (0.034 cm/µs * 시간 ) / 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58.8µs = 1cm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g3e61982b481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g3e61982b481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g3e61982b481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g3e61982b481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g3e61982b481_0_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g3e61982b481_0_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g3e61982b481_0_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g3e61982b481_0_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g3e61982b481_0_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g3e61982b481_0_65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e61982b481_0_65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ASM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2" name="Google Shape;782;g3e61982b481_0_6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85250" y="4419700"/>
            <a:ext cx="11221544" cy="77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g3e61982b481_0_65"/>
          <p:cNvSpPr/>
          <p:nvPr/>
        </p:nvSpPr>
        <p:spPr>
          <a:xfrm rot="9261613">
            <a:off x="6852287" y="9875941"/>
            <a:ext cx="2035534" cy="2781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4" name="Google Shape;784;g3e61982b481_0_65"/>
          <p:cNvGrpSpPr/>
          <p:nvPr/>
        </p:nvGrpSpPr>
        <p:grpSpPr>
          <a:xfrm>
            <a:off x="1484126" y="10580825"/>
            <a:ext cx="6687282" cy="1020264"/>
            <a:chOff x="6864402" y="13834420"/>
            <a:chExt cx="5242460" cy="1208414"/>
          </a:xfrm>
        </p:grpSpPr>
        <p:pic>
          <p:nvPicPr>
            <p:cNvPr id="785" name="Google Shape;785;g3e61982b481_0_6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864402" y="13834420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g3e61982b481_0_65"/>
            <p:cNvSpPr txBox="1"/>
            <p:nvPr/>
          </p:nvSpPr>
          <p:spPr>
            <a:xfrm>
              <a:off x="6973262" y="14004087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trig가 11</a:t>
              </a: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µs 이상 유지되는지 확인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  <p:sp>
        <p:nvSpPr>
          <p:cNvPr id="787" name="Google Shape;787;g3e61982b481_0_65"/>
          <p:cNvSpPr/>
          <p:nvPr/>
        </p:nvSpPr>
        <p:spPr>
          <a:xfrm rot="1073251">
            <a:off x="15843165" y="8156863"/>
            <a:ext cx="2035493" cy="27807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8" name="Google Shape;788;g3e61982b481_0_65"/>
          <p:cNvGrpSpPr/>
          <p:nvPr/>
        </p:nvGrpSpPr>
        <p:grpSpPr>
          <a:xfrm>
            <a:off x="17162105" y="8854983"/>
            <a:ext cx="5107056" cy="1020264"/>
            <a:chOff x="7387097" y="13240999"/>
            <a:chExt cx="5182724" cy="1208414"/>
          </a:xfrm>
        </p:grpSpPr>
        <p:pic>
          <p:nvPicPr>
            <p:cNvPr id="789" name="Google Shape;789;g3e61982b481_0_6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387097" y="13240999"/>
              <a:ext cx="5055786" cy="1208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0" name="Google Shape;790;g3e61982b481_0_65"/>
            <p:cNvSpPr txBox="1"/>
            <p:nvPr/>
          </p:nvSpPr>
          <p:spPr>
            <a:xfrm>
              <a:off x="7436221" y="13410666"/>
              <a:ext cx="5133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5950" lIns="0" spcFirstLastPara="1" rIns="0" wrap="square" tIns="145950">
              <a:noAutofit/>
            </a:bodyPr>
            <a:lstStyle/>
            <a:p>
              <a:pPr indent="0" lvl="0" marL="0" marR="0" rtl="0" algn="ctr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925"/>
                <a:buFont typeface="Arial"/>
                <a:buNone/>
              </a:pPr>
              <a:r>
                <a:rPr b="1" lang="en-US" sz="2398">
                  <a:solidFill>
                    <a:srgbClr val="545454"/>
                  </a:solidFill>
                </a:rPr>
                <a:t>1cm(58</a:t>
              </a: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µs)</a:t>
              </a: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가 됐는지 확인</a:t>
              </a:r>
              <a:endParaRPr sz="1998">
                <a:solidFill>
                  <a:srgbClr val="545454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g3dbddf81f9d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dbddf81f9d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g3dbddf81f9d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g3dbddf81f9d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g3dbddf81f9d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g3dbddf81f9d_0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g3dbddf81f9d_0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87508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g3dbddf81f9d_0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g3dbddf81f9d_0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g3dbddf81f9d_0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dbddf81f9d_0_1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(통합)</a:t>
            </a:r>
            <a:r>
              <a:rPr lang="en-US" sz="7200">
                <a:solidFill>
                  <a:srgbClr val="545454"/>
                </a:solidFill>
              </a:rPr>
              <a:t> 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dbddf81f9d_0_1"/>
          <p:cNvSpPr txBox="1"/>
          <p:nvPr/>
        </p:nvSpPr>
        <p:spPr>
          <a:xfrm>
            <a:off x="5538425" y="5628225"/>
            <a:ext cx="90261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설명할때 코드넣지말고, 표나 차트이용해서 설명하기. sr04 이론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7" name="Google Shape;807;g3dbddf81f9d_0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27110" y="4229110"/>
            <a:ext cx="15877551" cy="735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8" name="Google Shape;808;g3dbddf81f9d_0_1"/>
          <p:cNvGrpSpPr/>
          <p:nvPr/>
        </p:nvGrpSpPr>
        <p:grpSpPr>
          <a:xfrm>
            <a:off x="15849600" y="11453125"/>
            <a:ext cx="6253674" cy="1249575"/>
            <a:chOff x="6161850" y="11212125"/>
            <a:chExt cx="6253674" cy="1249575"/>
          </a:xfrm>
        </p:grpSpPr>
        <p:pic>
          <p:nvPicPr>
            <p:cNvPr id="809" name="Google Shape;809;g3dbddf81f9d_0_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161850" y="11212125"/>
              <a:ext cx="6253674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g3dbddf81f9d_0_1"/>
            <p:cNvSpPr txBox="1"/>
            <p:nvPr/>
          </p:nvSpPr>
          <p:spPr>
            <a:xfrm>
              <a:off x="6276100" y="11508700"/>
              <a:ext cx="60252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882"/>
                <a:buFont typeface="Arial"/>
                <a:buNone/>
              </a:pPr>
              <a:r>
                <a:rPr lang="en-US" sz="3700">
                  <a:solidFill>
                    <a:srgbClr val="545454"/>
                  </a:solidFill>
                </a:rPr>
                <a:t>1000</a:t>
              </a: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µs</a:t>
              </a:r>
              <a:r>
                <a:rPr lang="en-US" sz="3700">
                  <a:solidFill>
                    <a:srgbClr val="545454"/>
                  </a:solidFill>
                </a:rPr>
                <a:t>간</a:t>
              </a:r>
              <a:r>
                <a:rPr lang="en-US" sz="3700">
                  <a:solidFill>
                    <a:srgbClr val="545454"/>
                  </a:solidFill>
                </a:rPr>
                <a:t> 약 17cm가 측정됨</a:t>
              </a:r>
              <a:endParaRPr b="0" i="0" sz="3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1" name="Google Shape;811;g3dbddf81f9d_0_1"/>
          <p:cNvSpPr/>
          <p:nvPr/>
        </p:nvSpPr>
        <p:spPr>
          <a:xfrm>
            <a:off x="6791025" y="5628225"/>
            <a:ext cx="2489100" cy="23241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dbddf81f9d_0_1"/>
          <p:cNvSpPr/>
          <p:nvPr/>
        </p:nvSpPr>
        <p:spPr>
          <a:xfrm>
            <a:off x="16072375" y="7192398"/>
            <a:ext cx="1695300" cy="40614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g3dbddf81f9d_2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g3dbddf81f9d_2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g3dbddf81f9d_2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g3dbddf81f9d_2_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g3dbddf81f9d_2_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g3dbddf81f9d_2_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g3dbddf81f9d_2_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3dbddf81f9d_2_5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g3dbddf81f9d_2_5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g3dbddf81f9d_2_58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dbddf81f9d_2_58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Simulation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72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(IDLE &amp; START)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8" name="Google Shape;828;g3dbddf81f9d_2_5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95275" y="4870850"/>
            <a:ext cx="8860848" cy="2092937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g3dbddf81f9d_2_58"/>
          <p:cNvSpPr/>
          <p:nvPr/>
        </p:nvSpPr>
        <p:spPr>
          <a:xfrm>
            <a:off x="9073886" y="5581943"/>
            <a:ext cx="1791900" cy="830700"/>
          </a:xfrm>
          <a:prstGeom prst="rect">
            <a:avLst/>
          </a:prstGeom>
          <a:noFill/>
          <a:ln cap="flat" cmpd="sng" w="96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800" lIns="57800" spcFirstLastPara="1" rIns="57800" wrap="square" tIns="57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dbddf81f9d_2_58"/>
          <p:cNvSpPr/>
          <p:nvPr/>
        </p:nvSpPr>
        <p:spPr>
          <a:xfrm>
            <a:off x="9802331" y="6618381"/>
            <a:ext cx="453000" cy="417600"/>
          </a:xfrm>
          <a:prstGeom prst="rect">
            <a:avLst/>
          </a:prstGeom>
          <a:noFill/>
          <a:ln cap="flat" cmpd="sng" w="96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800" lIns="57800" spcFirstLastPara="1" rIns="57800" wrap="square" tIns="57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1" name="Google Shape;831;g3dbddf81f9d_2_5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18400" y="8329525"/>
            <a:ext cx="15521875" cy="3870294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g3dbddf81f9d_2_58"/>
          <p:cNvSpPr txBox="1"/>
          <p:nvPr/>
        </p:nvSpPr>
        <p:spPr>
          <a:xfrm>
            <a:off x="8800914" y="5513963"/>
            <a:ext cx="15111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800" lIns="57800" spcFirstLastPara="1" rIns="57800" wrap="square" tIns="5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23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dbddf81f9d_2_58"/>
          <p:cNvSpPr txBox="1"/>
          <p:nvPr/>
        </p:nvSpPr>
        <p:spPr>
          <a:xfrm>
            <a:off x="9350176" y="6554244"/>
            <a:ext cx="9618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800" lIns="57800" spcFirstLastPara="1" rIns="57800" wrap="square" tIns="5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3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23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g3dbddf81f9d_2_58"/>
          <p:cNvSpPr/>
          <p:nvPr/>
        </p:nvSpPr>
        <p:spPr>
          <a:xfrm>
            <a:off x="18192197" y="10432225"/>
            <a:ext cx="2685300" cy="981000"/>
          </a:xfrm>
          <a:prstGeom prst="rect">
            <a:avLst/>
          </a:prstGeom>
          <a:noFill/>
          <a:ln cap="flat" cmpd="sng" w="113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dbddf81f9d_2_58"/>
          <p:cNvSpPr/>
          <p:nvPr/>
        </p:nvSpPr>
        <p:spPr>
          <a:xfrm>
            <a:off x="20412091" y="11706626"/>
            <a:ext cx="534900" cy="493200"/>
          </a:xfrm>
          <a:prstGeom prst="rect">
            <a:avLst/>
          </a:prstGeom>
          <a:noFill/>
          <a:ln cap="flat" cmpd="sng" w="113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5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" name="Google Shape;836;g3dbddf81f9d_2_58"/>
          <p:cNvCxnSpPr/>
          <p:nvPr/>
        </p:nvCxnSpPr>
        <p:spPr>
          <a:xfrm>
            <a:off x="11756125" y="4870850"/>
            <a:ext cx="9078900" cy="35097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g3dbddf81f9d_2_58"/>
          <p:cNvSpPr/>
          <p:nvPr/>
        </p:nvSpPr>
        <p:spPr>
          <a:xfrm flipH="1" rot="-5083641">
            <a:off x="19205371" y="8462452"/>
            <a:ext cx="2765100" cy="419417"/>
          </a:xfrm>
          <a:prstGeom prst="rightArrow">
            <a:avLst>
              <a:gd fmla="val 50000" name="adj1"/>
              <a:gd fmla="val 8922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8" name="Google Shape;838;g3dbddf81f9d_2_58"/>
          <p:cNvGrpSpPr/>
          <p:nvPr/>
        </p:nvGrpSpPr>
        <p:grpSpPr>
          <a:xfrm>
            <a:off x="9658641" y="4293425"/>
            <a:ext cx="7628232" cy="1249575"/>
            <a:chOff x="4678205" y="12086463"/>
            <a:chExt cx="6253674" cy="1249575"/>
          </a:xfrm>
        </p:grpSpPr>
        <p:pic>
          <p:nvPicPr>
            <p:cNvPr id="839" name="Google Shape;839;g3dbddf81f9d_2_5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678205" y="12086463"/>
              <a:ext cx="6253674" cy="124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g3dbddf81f9d_2_58"/>
            <p:cNvSpPr txBox="1"/>
            <p:nvPr/>
          </p:nvSpPr>
          <p:spPr>
            <a:xfrm>
              <a:off x="4792435" y="12381100"/>
              <a:ext cx="60252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8325" lIns="0" spcFirstLastPara="1" rIns="0" wrap="square" tIns="108325">
              <a:noAutofit/>
            </a:bodyPr>
            <a:lstStyle/>
            <a:p>
              <a:pPr indent="0" lvl="0" marL="0" marR="0" rtl="0" algn="l">
                <a:lnSpc>
                  <a:spcPct val="921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545454"/>
                  </a:solidFill>
                </a:rPr>
                <a:t>trig = 1 이후 start state로 천이 </a:t>
              </a:r>
              <a:endParaRPr b="0" i="0" sz="3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41" name="Google Shape;841;g3dbddf81f9d_2_58"/>
          <p:cNvCxnSpPr/>
          <p:nvPr/>
        </p:nvCxnSpPr>
        <p:spPr>
          <a:xfrm>
            <a:off x="2914300" y="6988500"/>
            <a:ext cx="2404800" cy="52212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42" name="Google Shape;842;g3dbddf81f9d_2_5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341600" y="4870850"/>
            <a:ext cx="3436250" cy="237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g3dbddf81f9d_2_58"/>
          <p:cNvSpPr txBox="1"/>
          <p:nvPr/>
        </p:nvSpPr>
        <p:spPr>
          <a:xfrm>
            <a:off x="19547138" y="5730525"/>
            <a:ext cx="3711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325" lIns="0" spcFirstLastPara="1" rIns="0" wrap="square" tIns="1083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545454"/>
                </a:solidFill>
              </a:rPr>
              <a:t>trig가 12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µs</a:t>
            </a:r>
            <a:r>
              <a:rPr lang="en-US" sz="3400">
                <a:solidFill>
                  <a:srgbClr val="545454"/>
                </a:solidFill>
              </a:rPr>
              <a:t>이상 </a:t>
            </a:r>
            <a:endParaRPr sz="34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545454"/>
                </a:solidFill>
              </a:rPr>
              <a:t>유지 이후 </a:t>
            </a:r>
            <a:endParaRPr sz="34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545454"/>
                </a:solidFill>
              </a:rPr>
              <a:t>wait state로 천이</a:t>
            </a:r>
            <a:endParaRPr b="0" i="0" sz="34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g3dbddf81f9d_2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g3dbddf81f9d_2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g3dbddf81f9d_2_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g3dbddf81f9d_2_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g3dbddf81f9d_2_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g3dbddf81f9d_2_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g3dbddf81f9d_2_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g3dbddf81f9d_2_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g3dbddf81f9d_2_7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g3dbddf81f9d_2_75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dbddf81f9d_2_75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</a:t>
            </a:r>
            <a:r>
              <a:rPr lang="en-US" sz="7200">
                <a:solidFill>
                  <a:srgbClr val="545454"/>
                </a:solidFill>
              </a:rPr>
              <a:t>WAIT)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9" name="Google Shape;859;g3dbddf81f9d_2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58962" y="10917488"/>
            <a:ext cx="3108001" cy="7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g3dbddf81f9d_2_75"/>
          <p:cNvSpPr txBox="1"/>
          <p:nvPr/>
        </p:nvSpPr>
        <p:spPr>
          <a:xfrm>
            <a:off x="6958950" y="11004825"/>
            <a:ext cx="3315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3497">
                <a:solidFill>
                  <a:srgbClr val="545454"/>
                </a:solidFill>
              </a:rPr>
              <a:t>sr04</a:t>
            </a: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lang="en-US" sz="3497">
                <a:solidFill>
                  <a:srgbClr val="545454"/>
                </a:solidFill>
              </a:rPr>
              <a:t>start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dbddf81f9d_2_75"/>
          <p:cNvSpPr/>
          <p:nvPr/>
        </p:nvSpPr>
        <p:spPr>
          <a:xfrm>
            <a:off x="9652050" y="9101575"/>
            <a:ext cx="1092300" cy="56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dbddf81f9d_2_75"/>
          <p:cNvSpPr/>
          <p:nvPr/>
        </p:nvSpPr>
        <p:spPr>
          <a:xfrm>
            <a:off x="12514625" y="7833050"/>
            <a:ext cx="1092300" cy="1092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3dbddf81f9d_2_75"/>
          <p:cNvSpPr/>
          <p:nvPr/>
        </p:nvSpPr>
        <p:spPr>
          <a:xfrm>
            <a:off x="15383500" y="8771600"/>
            <a:ext cx="1092300" cy="1092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dbddf81f9d_2_75"/>
          <p:cNvSpPr txBox="1"/>
          <p:nvPr/>
        </p:nvSpPr>
        <p:spPr>
          <a:xfrm>
            <a:off x="9652050" y="8460850"/>
            <a:ext cx="21969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dbddf81f9d_2_75"/>
          <p:cNvSpPr/>
          <p:nvPr/>
        </p:nvSpPr>
        <p:spPr>
          <a:xfrm>
            <a:off x="6785725" y="6816813"/>
            <a:ext cx="1092300" cy="1092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dbddf81f9d_2_75"/>
          <p:cNvSpPr txBox="1"/>
          <p:nvPr/>
        </p:nvSpPr>
        <p:spPr>
          <a:xfrm>
            <a:off x="6233425" y="6472850"/>
            <a:ext cx="21969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dbddf81f9d_2_75"/>
          <p:cNvSpPr txBox="1"/>
          <p:nvPr/>
        </p:nvSpPr>
        <p:spPr>
          <a:xfrm>
            <a:off x="11962325" y="7448450"/>
            <a:ext cx="21969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dbddf81f9d_2_75"/>
          <p:cNvSpPr txBox="1"/>
          <p:nvPr/>
        </p:nvSpPr>
        <p:spPr>
          <a:xfrm>
            <a:off x="14831200" y="8460850"/>
            <a:ext cx="21969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g3dbddf81f9d_2_7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920590" y="4829812"/>
            <a:ext cx="13368827" cy="36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Google Shape;874;g3dbddf81f9d_2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g3dbddf81f9d_2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g3dbddf81f9d_2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g3dbddf81f9d_2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g3dbddf81f9d_2_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g3dbddf81f9d_2_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g3dbddf81f9d_2_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g3dbddf81f9d_2_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g3dbddf81f9d_2_9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dbddf81f9d_2_92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dbddf81f9d_2_92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</a:t>
            </a:r>
            <a:r>
              <a:rPr lang="en-US" sz="7200">
                <a:solidFill>
                  <a:srgbClr val="545454"/>
                </a:solidFill>
              </a:rPr>
              <a:t>RESPONSE)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5" name="Google Shape;885;g3dbddf81f9d_2_9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55800" y="5427425"/>
            <a:ext cx="20421600" cy="331238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g3dbddf81f9d_2_92"/>
          <p:cNvSpPr/>
          <p:nvPr/>
        </p:nvSpPr>
        <p:spPr>
          <a:xfrm>
            <a:off x="13176200" y="7510375"/>
            <a:ext cx="965100" cy="56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dbddf81f9d_2_92"/>
          <p:cNvSpPr/>
          <p:nvPr/>
        </p:nvSpPr>
        <p:spPr>
          <a:xfrm>
            <a:off x="21597950" y="7892650"/>
            <a:ext cx="965100" cy="1092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dbddf81f9d_2_92"/>
          <p:cNvSpPr/>
          <p:nvPr/>
        </p:nvSpPr>
        <p:spPr>
          <a:xfrm>
            <a:off x="20310450" y="6929500"/>
            <a:ext cx="965100" cy="56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g3dc288aeda7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g3dc288aeda7_1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g3dc288aeda7_1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g3dc288aeda7_1_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g3dc288aeda7_1_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g3dc288aeda7_1_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g3dc288aeda7_1_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g3dc288aeda7_1_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g3dc288aeda7_1_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g3dc288aeda7_1_3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dc288aeda7_1_37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SR04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(RESPONSE)</a:t>
            </a:r>
            <a:endParaRPr sz="7200">
              <a:solidFill>
                <a:srgbClr val="545454"/>
              </a:solidFill>
            </a:endParaRPr>
          </a:p>
        </p:txBody>
      </p:sp>
      <p:pic>
        <p:nvPicPr>
          <p:cNvPr id="904" name="Google Shape;904;g3dc288aeda7_1_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81301" y="4762500"/>
            <a:ext cx="21170574" cy="18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g3dc288aeda7_1_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81306" y="7154400"/>
            <a:ext cx="8883000" cy="27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g3dc288aeda7_1_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07025" y="7154400"/>
            <a:ext cx="12244861" cy="27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dc288aeda7_1_37"/>
          <p:cNvSpPr/>
          <p:nvPr/>
        </p:nvSpPr>
        <p:spPr>
          <a:xfrm>
            <a:off x="19635225" y="8137850"/>
            <a:ext cx="744900" cy="660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dc288aeda7_1_37"/>
          <p:cNvSpPr/>
          <p:nvPr/>
        </p:nvSpPr>
        <p:spPr>
          <a:xfrm>
            <a:off x="20777300" y="7059500"/>
            <a:ext cx="1092300" cy="660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dc288aeda7_1_37"/>
          <p:cNvSpPr/>
          <p:nvPr/>
        </p:nvSpPr>
        <p:spPr>
          <a:xfrm>
            <a:off x="13032242" y="4617075"/>
            <a:ext cx="628500" cy="6603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dc288aeda7_1_37"/>
          <p:cNvSpPr/>
          <p:nvPr/>
        </p:nvSpPr>
        <p:spPr>
          <a:xfrm>
            <a:off x="21288725" y="4762500"/>
            <a:ext cx="1620600" cy="14976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dc288aeda7_1_37"/>
          <p:cNvSpPr/>
          <p:nvPr/>
        </p:nvSpPr>
        <p:spPr>
          <a:xfrm>
            <a:off x="7909725" y="8625425"/>
            <a:ext cx="1620600" cy="14976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dc288aeda7_1_37"/>
          <p:cNvSpPr/>
          <p:nvPr/>
        </p:nvSpPr>
        <p:spPr>
          <a:xfrm>
            <a:off x="4425450" y="8229950"/>
            <a:ext cx="628500" cy="56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dc288aeda7_1_37"/>
          <p:cNvSpPr/>
          <p:nvPr/>
        </p:nvSpPr>
        <p:spPr>
          <a:xfrm>
            <a:off x="9820575" y="7719800"/>
            <a:ext cx="628500" cy="56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g3dc288aeda7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g3dc288aeda7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g3dc288aeda7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g3dc288aeda7_0_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g3dc288aeda7_0_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g3dc288aeda7_0_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g3dc288aeda7_0_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2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g3dc288aeda7_0_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g3dc288aeda7_0_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g3dc288aeda7_0_3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dc288aeda7_0_39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SPEC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9" name="Google Shape;929;g3dc288aeda7_0_39"/>
          <p:cNvGraphicFramePr/>
          <p:nvPr/>
        </p:nvGraphicFramePr>
        <p:xfrm>
          <a:off x="1714375" y="625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3597100"/>
                <a:gridCol w="4588625"/>
              </a:tblGrid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항목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SPEC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습도 범위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20 ~ 90%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온도 범위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0 ~ 50 ℃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동작 범위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3.3 ~ 5.5 V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930" name="Google Shape;930;g3dc288aeda7_0_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310173" y="4981875"/>
            <a:ext cx="4375250" cy="53938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1" name="Google Shape;931;g3dc288aeda7_0_39"/>
          <p:cNvGraphicFramePr/>
          <p:nvPr/>
        </p:nvGraphicFramePr>
        <p:xfrm>
          <a:off x="10610263" y="625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3597100"/>
                <a:gridCol w="4588625"/>
              </a:tblGrid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항목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전기적 특성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통신 방식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Single wire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데이터 핀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open-drain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데이터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40 bit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g3dbddf81f9d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g3dbddf81f9d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g3dbddf81f9d_0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g3dbddf81f9d_0_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g3dbddf81f9d_0_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g3dbddf81f9d_0_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3dbddf81f9d_0_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g3dbddf81f9d_0_6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g3dbddf81f9d_0_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dbddf81f9d_0_6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dbddf81f9d_0_61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SPEC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7" name="Google Shape;947;g3dbddf81f9d_0_6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79425" y="4978500"/>
            <a:ext cx="14374350" cy="458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8" name="Google Shape;948;g3dbddf81f9d_0_61"/>
          <p:cNvGraphicFramePr/>
          <p:nvPr/>
        </p:nvGraphicFramePr>
        <p:xfrm>
          <a:off x="4606150" y="1004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2049400"/>
                <a:gridCol w="2614300"/>
                <a:gridCol w="2614300"/>
                <a:gridCol w="2614300"/>
                <a:gridCol w="2614300"/>
                <a:gridCol w="2614300"/>
              </a:tblGrid>
              <a:tr h="86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data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humidity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temperature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check sum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6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40 bit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>
                          <a:solidFill>
                            <a:srgbClr val="888888"/>
                          </a:solidFill>
                        </a:rPr>
                        <a:t>8 bit</a:t>
                      </a:r>
                      <a:r>
                        <a:rPr b="1" lang="en-US" sz="3000">
                          <a:solidFill>
                            <a:srgbClr val="888888"/>
                          </a:solidFill>
                        </a:rPr>
                        <a:t> integer</a:t>
                      </a:r>
                      <a:endParaRPr b="1"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8 bit</a:t>
                      </a: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 decimal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888888"/>
                          </a:solidFill>
                        </a:rPr>
                        <a:t>8 bit</a:t>
                      </a:r>
                      <a:r>
                        <a:rPr b="1" lang="en-US" sz="3000">
                          <a:solidFill>
                            <a:srgbClr val="888888"/>
                          </a:solidFill>
                        </a:rPr>
                        <a:t> integer</a:t>
                      </a:r>
                      <a:endParaRPr b="1"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8 bit</a:t>
                      </a: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 decimal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solidFill>
                            <a:srgbClr val="888888"/>
                          </a:solidFill>
                        </a:rPr>
                        <a:t>check sum</a:t>
                      </a:r>
                      <a:endParaRPr b="1"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g3dbddf81f9d_4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g3dbddf81f9d_4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g3dbddf81f9d_4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g3dbddf81f9d_4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g3dbddf81f9d_4_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g3dbddf81f9d_4_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g3dbddf81f9d_4_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g3dbddf81f9d_4_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g3dbddf81f9d_4_5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dbddf81f9d_4_51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ASM</a:t>
            </a:r>
            <a:endParaRPr sz="7200">
              <a:solidFill>
                <a:srgbClr val="545454"/>
              </a:solidFill>
            </a:endParaRPr>
          </a:p>
        </p:txBody>
      </p:sp>
      <p:pic>
        <p:nvPicPr>
          <p:cNvPr id="963" name="Google Shape;963;g3dbddf81f9d_4_5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g3dbddf81f9d_4_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86150" y="4419700"/>
            <a:ext cx="11596851" cy="77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g3dbddf81f9d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g3dbddf81f9d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g3dbddf81f9d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3dbddf81f9d_0_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g3dbddf81f9d_0_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g3dbddf81f9d_0_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g3dbddf81f9d_0_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g3dbddf81f9d_0_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g3dbddf81f9d_0_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g3dbddf81f9d_0_33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dbddf81f9d_0_33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FND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Block Diagram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0" name="Google Shape;980;g3dbddf81f9d_0_3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31400" y="4314775"/>
            <a:ext cx="8574876" cy="8385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1" name="Google Shape;981;g3dbddf81f9d_0_33"/>
          <p:cNvGraphicFramePr/>
          <p:nvPr/>
        </p:nvGraphicFramePr>
        <p:xfrm>
          <a:off x="11152450" y="450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{94BBE91A-16C0-468A-A2B4-9F9DBC8D213B}</a:tableStyleId>
              </a:tblPr>
              <a:tblGrid>
                <a:gridCol w="4040250"/>
                <a:gridCol w="7262850"/>
              </a:tblGrid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hum/temp DS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습도 / 온도 8 bit 1, 10 자리 분리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DH_MUX2_1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display_sel에 따라 습도 온도 선택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FONT_MUX2_1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display_sel에 따라 습도 온도 font 선택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DHT_MUX4_1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10, 1, off, h/c 폰트 중 digit_sel로 선택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DIST_DS X 2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거리 9 bit 값을 1, 10, 100 자리로 분리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UT_MUX4_1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100, 10, 1,  u font digit_sel로 선택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MSEC_SEC_MUX8_1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msec/sec + dot digit_sel로 순서대로 출력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MIN_HOUR_MUX8_1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min/hour + dot digit_sel로 순서대로 출력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MSEC_SEC_MUX8_1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display_sel로 msec/sec,min/hour 전환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3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MODE_MUX3_1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fnd_sel에 따라 타이머/초음파/온습도 선택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Decoder 2X4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fnd_sel로 FND 4자리 중 활성화 자리 선택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BCD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888888"/>
                          </a:solidFill>
                        </a:rPr>
                        <a:t>4 bit 폰트 코드를 FND 세그먼트로 변환</a:t>
                      </a:r>
                      <a:endParaRPr sz="3000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g3dbddf81f9d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g3dbddf81f9d_4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g3dbddf81f9d_4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g3dbddf81f9d_4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g3dbddf81f9d_4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g3dbddf81f9d_4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g3dbddf81f9d_4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g3dbddf81f9d_4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g3dbddf81f9d_4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g3dbddf81f9d_4_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dbddf81f9d_4_0"/>
          <p:cNvSpPr txBox="1"/>
          <p:nvPr/>
        </p:nvSpPr>
        <p:spPr>
          <a:xfrm>
            <a:off x="7467600" y="2336800"/>
            <a:ext cx="135609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(IDLE, START)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7" name="Google Shape;997;g3dbddf81f9d_4_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55800" y="10598400"/>
            <a:ext cx="15291700" cy="17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g3dbddf81f9d_4_0"/>
          <p:cNvSpPr/>
          <p:nvPr/>
        </p:nvSpPr>
        <p:spPr>
          <a:xfrm>
            <a:off x="9692350" y="10598400"/>
            <a:ext cx="2566500" cy="17271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9" name="Google Shape;999;g3dbddf81f9d_4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024300" y="4419690"/>
            <a:ext cx="2489200" cy="8181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g3dbddf81f9d_4_0"/>
          <p:cNvSpPr/>
          <p:nvPr/>
        </p:nvSpPr>
        <p:spPr>
          <a:xfrm rot="10496771">
            <a:off x="12334865" y="11521648"/>
            <a:ext cx="7979220" cy="435795"/>
          </a:xfrm>
          <a:prstGeom prst="rightArrow">
            <a:avLst>
              <a:gd fmla="val 37931" name="adj1"/>
              <a:gd fmla="val 50000" name="adj2"/>
            </a:avLst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1" name="Google Shape;1001;g3dbddf81f9d_4_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55800" y="4558762"/>
            <a:ext cx="13238431" cy="5735400"/>
          </a:xfrm>
          <a:prstGeom prst="rect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2" name="Google Shape;1002;g3dbddf81f9d_4_0"/>
          <p:cNvSpPr/>
          <p:nvPr/>
        </p:nvSpPr>
        <p:spPr>
          <a:xfrm>
            <a:off x="8779450" y="4558750"/>
            <a:ext cx="4760400" cy="57354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g3dc288aeda7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g3dc288aeda7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g3dc288aeda7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g3dc288aeda7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g3dc288aeda7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g3dc288aeda7_0_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g3dc288aeda7_0_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g3dc288aeda7_0_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g3dc288aeda7_0_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dc288aeda7_0_1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3dc288aeda7_0_19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(WAIT)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8" name="Google Shape;1018;g3dc288aeda7_0_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67425" y="9663425"/>
            <a:ext cx="15950275" cy="27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g3dc288aeda7_0_19"/>
          <p:cNvSpPr txBox="1"/>
          <p:nvPr/>
        </p:nvSpPr>
        <p:spPr>
          <a:xfrm>
            <a:off x="2167500" y="9893325"/>
            <a:ext cx="159504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FPGA가 ‘시작 신호 전송’을 마치고 센서로부터 ‘응답 신호’를 받기 위해 상태를 전환하는 지점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t/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FPGA가 출력 모드를 해제하기 직전에 테스트벤치가 응답 신호(io_oe)를 먼저 구동하면서, 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FPGA의 High(1) 신호와 센서의 Low(0) 신호가 하나의 선로를 구동해 충돌이 발생하는 X 파형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t/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실제 하드웨어에서는 Open-Drain 방식과 풀업 저항으로 인해 발생하지 않는 시뮬레이션 한계</a:t>
            </a:r>
            <a:endParaRPr sz="2697">
              <a:solidFill>
                <a:srgbClr val="545454"/>
              </a:solidFill>
            </a:endParaRPr>
          </a:p>
        </p:txBody>
      </p:sp>
      <p:pic>
        <p:nvPicPr>
          <p:cNvPr id="1020" name="Google Shape;1020;g3dc288aeda7_0_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754725" y="4528113"/>
            <a:ext cx="3486150" cy="60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g3dc288aeda7_0_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67425" y="4623058"/>
            <a:ext cx="12253934" cy="4671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g3dc288aeda7_0_19"/>
          <p:cNvSpPr/>
          <p:nvPr/>
        </p:nvSpPr>
        <p:spPr>
          <a:xfrm>
            <a:off x="8300250" y="4528125"/>
            <a:ext cx="1902300" cy="33822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dc288aeda7_0_19"/>
          <p:cNvSpPr/>
          <p:nvPr/>
        </p:nvSpPr>
        <p:spPr>
          <a:xfrm rot="5400970">
            <a:off x="8188500" y="8395450"/>
            <a:ext cx="2125800" cy="699900"/>
          </a:xfrm>
          <a:prstGeom prst="rightArrow">
            <a:avLst>
              <a:gd fmla="val 37931" name="adj1"/>
              <a:gd fmla="val 50000" name="adj2"/>
            </a:avLst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g3dc288aeda7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g3dc288aeda7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g3dc288aeda7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g3dc288aeda7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g3dc288aeda7_0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g3dc288aeda7_0_1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g3dc288aeda7_0_1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g3dc288aeda7_0_1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g3dc288aeda7_0_10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g3dc288aeda7_0_10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dc288aeda7_0_101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(SYNCL, SYNCH)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9" name="Google Shape;1039;g3dc288aeda7_0_10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824700" y="4542300"/>
            <a:ext cx="2489200" cy="764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g3dc288aeda7_0_10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35647" y="4877038"/>
            <a:ext cx="13389771" cy="33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g3dc288aeda7_0_10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35650" y="9033525"/>
            <a:ext cx="13389776" cy="34143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g3dc288aeda7_0_101"/>
          <p:cNvSpPr/>
          <p:nvPr/>
        </p:nvSpPr>
        <p:spPr>
          <a:xfrm>
            <a:off x="7845888" y="5503638"/>
            <a:ext cx="6688800" cy="26121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dc288aeda7_0_101"/>
          <p:cNvSpPr/>
          <p:nvPr/>
        </p:nvSpPr>
        <p:spPr>
          <a:xfrm>
            <a:off x="8040300" y="9555500"/>
            <a:ext cx="7207800" cy="26121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g3dc288aeda7_0_101"/>
          <p:cNvSpPr txBox="1"/>
          <p:nvPr/>
        </p:nvSpPr>
        <p:spPr>
          <a:xfrm>
            <a:off x="19382875" y="441970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dc288aeda7_0_101"/>
          <p:cNvSpPr txBox="1"/>
          <p:nvPr/>
        </p:nvSpPr>
        <p:spPr>
          <a:xfrm>
            <a:off x="19173450" y="872302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3dc288aeda7_0_101"/>
          <p:cNvSpPr txBox="1"/>
          <p:nvPr/>
        </p:nvSpPr>
        <p:spPr>
          <a:xfrm>
            <a:off x="7250400" y="487705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dc288aeda7_0_101"/>
          <p:cNvSpPr txBox="1"/>
          <p:nvPr/>
        </p:nvSpPr>
        <p:spPr>
          <a:xfrm>
            <a:off x="7250400" y="901265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g3dc288aeda7_0_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g3dc288aeda7_0_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g3dc288aeda7_0_1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g3dc288aeda7_0_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g3dc288aeda7_0_1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g3dc288aeda7_0_1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g3dc288aeda7_0_1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g3dc288aeda7_0_1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g3dc288aeda7_0_1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g3dc288aeda7_0_13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dc288aeda7_0_137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(DATA_SYNC, COUNT)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3" name="Google Shape;1063;g3dc288aeda7_0_1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88585" y="4873900"/>
            <a:ext cx="13310501" cy="35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g3dc288aeda7_0_137"/>
          <p:cNvSpPr/>
          <p:nvPr/>
        </p:nvSpPr>
        <p:spPr>
          <a:xfrm>
            <a:off x="9617988" y="5608263"/>
            <a:ext cx="6688800" cy="26121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5" name="Google Shape;1065;g3dc288aeda7_0_1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88575" y="9033525"/>
            <a:ext cx="13310500" cy="3462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g3dc288aeda7_0_137"/>
          <p:cNvSpPr/>
          <p:nvPr/>
        </p:nvSpPr>
        <p:spPr>
          <a:xfrm>
            <a:off x="9715200" y="9574150"/>
            <a:ext cx="6494400" cy="26121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g3dc288aeda7_0_137"/>
          <p:cNvSpPr txBox="1"/>
          <p:nvPr/>
        </p:nvSpPr>
        <p:spPr>
          <a:xfrm>
            <a:off x="9022500" y="498167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g3dc288aeda7_0_137"/>
          <p:cNvSpPr txBox="1"/>
          <p:nvPr/>
        </p:nvSpPr>
        <p:spPr>
          <a:xfrm>
            <a:off x="9022500" y="911727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9" name="Google Shape;1069;g3dc288aeda7_0_1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929088" y="4419704"/>
            <a:ext cx="3137425" cy="82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g3dc288aeda7_0_137"/>
          <p:cNvSpPr txBox="1"/>
          <p:nvPr/>
        </p:nvSpPr>
        <p:spPr>
          <a:xfrm>
            <a:off x="19249950" y="441970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g3dc288aeda7_0_137"/>
          <p:cNvSpPr txBox="1"/>
          <p:nvPr/>
        </p:nvSpPr>
        <p:spPr>
          <a:xfrm>
            <a:off x="19173450" y="872302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g3dc288aeda7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g3dc288aeda7_0_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g3dc288aeda7_0_1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g3dc288aeda7_0_1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g3dc288aeda7_0_1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g3dc288aeda7_0_1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g3dc288aeda7_0_1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g3dc288aeda7_0_16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g3dc288aeda7_0_1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g3dc288aeda7_0_16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dc288aeda7_0_161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(DATA_DECISION)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g3dc288aeda7_0_16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300150" y="4873900"/>
            <a:ext cx="4461453" cy="68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g3dc288aeda7_0_161"/>
          <p:cNvSpPr txBox="1"/>
          <p:nvPr/>
        </p:nvSpPr>
        <p:spPr>
          <a:xfrm>
            <a:off x="22215400" y="666755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g3dc288aeda7_0_161"/>
          <p:cNvSpPr txBox="1"/>
          <p:nvPr/>
        </p:nvSpPr>
        <p:spPr>
          <a:xfrm>
            <a:off x="19175925" y="6667550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0" name="Google Shape;1090;g3dc288aeda7_0_16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50983" y="8739050"/>
            <a:ext cx="14682177" cy="3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g3dc288aeda7_0_161"/>
          <p:cNvSpPr/>
          <p:nvPr/>
        </p:nvSpPr>
        <p:spPr>
          <a:xfrm>
            <a:off x="8652250" y="8739050"/>
            <a:ext cx="7654500" cy="31938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g3dc288aeda7_0_161"/>
          <p:cNvSpPr txBox="1"/>
          <p:nvPr/>
        </p:nvSpPr>
        <p:spPr>
          <a:xfrm>
            <a:off x="7645175" y="881977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g3dc288aeda7_0_161"/>
          <p:cNvSpPr txBox="1"/>
          <p:nvPr/>
        </p:nvSpPr>
        <p:spPr>
          <a:xfrm>
            <a:off x="9780175" y="8819775"/>
            <a:ext cx="2946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tick_cnt &gt; 45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4" name="Google Shape;1094;g3dc288aeda7_0_16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50975" y="5118100"/>
            <a:ext cx="14682176" cy="3156122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g3dc288aeda7_0_161"/>
          <p:cNvSpPr txBox="1"/>
          <p:nvPr/>
        </p:nvSpPr>
        <p:spPr>
          <a:xfrm>
            <a:off x="8418975" y="523132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g3dc288aeda7_0_161"/>
          <p:cNvSpPr/>
          <p:nvPr/>
        </p:nvSpPr>
        <p:spPr>
          <a:xfrm>
            <a:off x="9511325" y="5118100"/>
            <a:ext cx="7028700" cy="31938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g3dc288aeda7_0_161"/>
          <p:cNvSpPr txBox="1"/>
          <p:nvPr/>
        </p:nvSpPr>
        <p:spPr>
          <a:xfrm>
            <a:off x="10994700" y="5361525"/>
            <a:ext cx="2946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tick_cnt &lt; 45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Google Shape;1102;g3dc288aeda7_0_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g3dc288aeda7_0_2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g3dc288aeda7_0_2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g3dc288aeda7_0_2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g3dc288aeda7_0_2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g3dc288aeda7_0_2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g3dc288aeda7_0_2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g3dc288aeda7_0_2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g3dc288aeda7_0_2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g3dc288aeda7_0_246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dc288aeda7_0_246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(DATA_DECISION)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g3dc288aeda7_0_24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187976" y="7044152"/>
            <a:ext cx="3508400" cy="53954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g3dc288aeda7_0_246"/>
          <p:cNvSpPr txBox="1"/>
          <p:nvPr/>
        </p:nvSpPr>
        <p:spPr>
          <a:xfrm>
            <a:off x="20466975" y="1071872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5" name="Google Shape;1115;g3dc288aeda7_0_2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04875" y="10145838"/>
            <a:ext cx="8845850" cy="1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g3dc288aeda7_0_246"/>
          <p:cNvSpPr txBox="1"/>
          <p:nvPr/>
        </p:nvSpPr>
        <p:spPr>
          <a:xfrm>
            <a:off x="2170900" y="10235625"/>
            <a:ext cx="87798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HUMI_INT = 33(10진수) / 0x21(16진수),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TEMP_INT = 27(10진수) / 0x1b(16진수),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CHECK_SUM = 33 + 27 = 60 (10진수) / 0x3c(16진수)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DATA_STREAM = { 21 , 00, 1b, 00, 3c }</a:t>
            </a:r>
            <a:endParaRPr sz="2697">
              <a:solidFill>
                <a:srgbClr val="545454"/>
              </a:solidFill>
            </a:endParaRPr>
          </a:p>
        </p:txBody>
      </p:sp>
      <p:pic>
        <p:nvPicPr>
          <p:cNvPr id="1117" name="Google Shape;1117;g3dc288aeda7_0_2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776412" y="10145850"/>
            <a:ext cx="6046250" cy="18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dc288aeda7_0_246"/>
          <p:cNvSpPr txBox="1"/>
          <p:nvPr/>
        </p:nvSpPr>
        <p:spPr>
          <a:xfrm>
            <a:off x="12869538" y="10235625"/>
            <a:ext cx="5868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DATA_REG = { 21, 00, 1b, 00, 3c }</a:t>
            </a:r>
            <a:endParaRPr sz="2697">
              <a:solidFill>
                <a:srgbClr val="545454"/>
              </a:solidFill>
            </a:endParaRPr>
          </a:p>
        </p:txBody>
      </p:sp>
      <p:sp>
        <p:nvSpPr>
          <p:cNvPr id="1119" name="Google Shape;1119;g3dc288aeda7_0_246"/>
          <p:cNvSpPr/>
          <p:nvPr/>
        </p:nvSpPr>
        <p:spPr>
          <a:xfrm>
            <a:off x="11213900" y="10679025"/>
            <a:ext cx="1299300" cy="7341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g3dc288aeda7_0_246"/>
          <p:cNvSpPr txBox="1"/>
          <p:nvPr/>
        </p:nvSpPr>
        <p:spPr>
          <a:xfrm>
            <a:off x="10765701" y="10145838"/>
            <a:ext cx="21957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valid = 1</a:t>
            </a:r>
            <a:endParaRPr sz="2697">
              <a:solidFill>
                <a:srgbClr val="545454"/>
              </a:solidFill>
            </a:endParaRPr>
          </a:p>
        </p:txBody>
      </p:sp>
      <p:pic>
        <p:nvPicPr>
          <p:cNvPr id="1121" name="Google Shape;1121;g3dc288aeda7_0_24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01500" y="4359100"/>
            <a:ext cx="195072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g3dc288aeda7_0_246"/>
          <p:cNvSpPr/>
          <p:nvPr/>
        </p:nvSpPr>
        <p:spPr>
          <a:xfrm>
            <a:off x="20038300" y="5440634"/>
            <a:ext cx="861300" cy="5322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g3dc288aeda7_0_246"/>
          <p:cNvSpPr txBox="1"/>
          <p:nvPr/>
        </p:nvSpPr>
        <p:spPr>
          <a:xfrm>
            <a:off x="20264600" y="4857863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4" name="Google Shape;1124;g3dc288aeda7_0_24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01500" y="7159275"/>
            <a:ext cx="142875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g3dc288aeda7_0_246"/>
          <p:cNvSpPr/>
          <p:nvPr/>
        </p:nvSpPr>
        <p:spPr>
          <a:xfrm>
            <a:off x="12097475" y="7439825"/>
            <a:ext cx="3268800" cy="19587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dc288aeda7_0_246"/>
          <p:cNvSpPr txBox="1"/>
          <p:nvPr/>
        </p:nvSpPr>
        <p:spPr>
          <a:xfrm>
            <a:off x="11563625" y="7044138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dc288aeda7_0_246"/>
          <p:cNvSpPr/>
          <p:nvPr/>
        </p:nvSpPr>
        <p:spPr>
          <a:xfrm rot="-10206739">
            <a:off x="7104394" y="9546549"/>
            <a:ext cx="3972811" cy="700061"/>
          </a:xfrm>
          <a:prstGeom prst="rightArrow">
            <a:avLst>
              <a:gd fmla="val 37931" name="adj1"/>
              <a:gd fmla="val 50000" name="adj2"/>
            </a:avLst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g3dc288aeda7_0_246"/>
          <p:cNvSpPr txBox="1"/>
          <p:nvPr/>
        </p:nvSpPr>
        <p:spPr>
          <a:xfrm>
            <a:off x="1613925" y="9826275"/>
            <a:ext cx="692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3200">
                <a:solidFill>
                  <a:srgbClr val="6FA8D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3200">
              <a:solidFill>
                <a:srgbClr val="6FA8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g3dc288aeda7_0_3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dc288aeda7_0_3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dc288aeda7_0_3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g3dc288aeda7_0_3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g3dc288aeda7_0_3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g3dc288aeda7_0_3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g3dc288aeda7_0_3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g3dc288aeda7_0_3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g3dc288aeda7_0_3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g3dc288aeda7_0_32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g3dc288aeda7_0_327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(CHECK SUM FAIL)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4" name="Google Shape;1144;g3dc288aeda7_0_3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3112" y="10145838"/>
            <a:ext cx="8845850" cy="1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g3dc288aeda7_0_327"/>
          <p:cNvSpPr txBox="1"/>
          <p:nvPr/>
        </p:nvSpPr>
        <p:spPr>
          <a:xfrm>
            <a:off x="3899138" y="10235625"/>
            <a:ext cx="87798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HUMI_INT = 33(10진수) / 0x21(16진수),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TEMP_INT = 27(10진수) / 0x1b(16진수),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CHECK_SUM = 33 + 27 = 60 (10진수) / 0x3c(16진수)</a:t>
            </a:r>
            <a:endParaRPr sz="2697">
              <a:solidFill>
                <a:srgbClr val="545454"/>
              </a:solidFill>
            </a:endParaRPr>
          </a:p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DATA_STREAM = { 21 , 00, 1b, 00, 3c }</a:t>
            </a:r>
            <a:endParaRPr sz="2697">
              <a:solidFill>
                <a:srgbClr val="545454"/>
              </a:solidFill>
            </a:endParaRPr>
          </a:p>
        </p:txBody>
      </p:sp>
      <p:pic>
        <p:nvPicPr>
          <p:cNvPr id="1146" name="Google Shape;1146;g3dc288aeda7_0_3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504650" y="10145850"/>
            <a:ext cx="6046250" cy="18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g3dc288aeda7_0_327"/>
          <p:cNvSpPr txBox="1"/>
          <p:nvPr/>
        </p:nvSpPr>
        <p:spPr>
          <a:xfrm>
            <a:off x="14597775" y="10235625"/>
            <a:ext cx="5868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DATA_REG = { 21, 00, 1b, 00, ff }</a:t>
            </a:r>
            <a:endParaRPr sz="2697">
              <a:solidFill>
                <a:srgbClr val="545454"/>
              </a:solidFill>
            </a:endParaRPr>
          </a:p>
        </p:txBody>
      </p:sp>
      <p:sp>
        <p:nvSpPr>
          <p:cNvPr id="1148" name="Google Shape;1148;g3dc288aeda7_0_327"/>
          <p:cNvSpPr txBox="1"/>
          <p:nvPr/>
        </p:nvSpPr>
        <p:spPr>
          <a:xfrm>
            <a:off x="12493939" y="10145838"/>
            <a:ext cx="21957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lang="en-US" sz="2697">
                <a:solidFill>
                  <a:srgbClr val="545454"/>
                </a:solidFill>
              </a:rPr>
              <a:t>valid = 0</a:t>
            </a:r>
            <a:endParaRPr sz="2697">
              <a:solidFill>
                <a:srgbClr val="545454"/>
              </a:solidFill>
            </a:endParaRPr>
          </a:p>
        </p:txBody>
      </p:sp>
      <p:sp>
        <p:nvSpPr>
          <p:cNvPr id="1149" name="Google Shape;1149;g3dc288aeda7_0_327"/>
          <p:cNvSpPr/>
          <p:nvPr/>
        </p:nvSpPr>
        <p:spPr>
          <a:xfrm>
            <a:off x="13006050" y="10879950"/>
            <a:ext cx="1171500" cy="5715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0" name="Google Shape;1150;g3dc288aeda7_0_3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35780" y="4923000"/>
            <a:ext cx="10824644" cy="4020962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g3dc288aeda7_0_327"/>
          <p:cNvSpPr/>
          <p:nvPr/>
        </p:nvSpPr>
        <p:spPr>
          <a:xfrm rot="-8520602">
            <a:off x="11395543" y="8922911"/>
            <a:ext cx="2268313" cy="700024"/>
          </a:xfrm>
          <a:prstGeom prst="rightArrow">
            <a:avLst>
              <a:gd fmla="val 37931" name="adj1"/>
              <a:gd fmla="val 50000" name="adj2"/>
            </a:avLst>
          </a:prstGeom>
          <a:solidFill>
            <a:srgbClr val="6FA8DC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g3dc288aeda7_0_2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dc288aeda7_0_2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dc288aeda7_0_2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dc288aeda7_0_2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g3dc288aeda7_0_2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g3dc288aeda7_0_29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g3dc288aeda7_0_29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4668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g3dc288aeda7_0_29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g3dc288aeda7_0_29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g3dc288aeda7_0_293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3dc288aeda7_0_293"/>
          <p:cNvSpPr txBox="1"/>
          <p:nvPr/>
        </p:nvSpPr>
        <p:spPr>
          <a:xfrm>
            <a:off x="7467600" y="2336800"/>
            <a:ext cx="1529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DHT11 Simulation</a:t>
            </a:r>
            <a:endParaRPr sz="7200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545454"/>
                </a:solidFill>
              </a:rPr>
              <a:t>(STOP)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7" name="Google Shape;1167;g3dc288aeda7_0_29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88637" y="6206675"/>
            <a:ext cx="12636625" cy="24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g3dc288aeda7_0_293"/>
          <p:cNvSpPr/>
          <p:nvPr/>
        </p:nvSpPr>
        <p:spPr>
          <a:xfrm>
            <a:off x="11708375" y="7100750"/>
            <a:ext cx="646500" cy="1092300"/>
          </a:xfrm>
          <a:prstGeom prst="rect">
            <a:avLst/>
          </a:prstGeom>
          <a:noFill/>
          <a:ln cap="flat" cmpd="sng" w="76200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9" name="Google Shape;1169;g3dc288aeda7_0_29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620938" y="4866538"/>
            <a:ext cx="3248025" cy="66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d6d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g3d96ba28e0f_0_300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g3d96ba28e0f_0_300"/>
          <p:cNvPicPr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g3d96ba28e0f_0_300"/>
          <p:cNvPicPr/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g3d96ba28e0f_0_300"/>
          <p:cNvPicPr/>
          <p:nvPr/>
        </p:nvPicPr>
        <p:blipFill rotWithShape="1">
          <a:blip r:embed="rId6">
            <a:alphaModFix/>
          </a:blip>
          <a:srcRect/>
          <a:stretch>
            <a:fillRect/>
          </a:stretch>
        </p:blipFill>
        <p:spPr>
          <a:xfrm>
            <a:off x="977900" y="1143000"/>
            <a:ext cx="22402800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g3d96ba28e0f_0_300"/>
          <p:cNvPicPr/>
          <p:nvPr/>
        </p:nvPicPr>
        <p:blipFill rotWithShape="1">
          <a:blip r:embed="rId7">
            <a:alphaModFix/>
          </a:blip>
          <a:srcRect/>
          <a:stretch>
            <a:fillRect/>
          </a:stretch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g3d96ba28e0f_0_300"/>
          <p:cNvPicPr/>
          <p:nvPr/>
        </p:nvPicPr>
        <p:blipFill rotWithShape="1">
          <a:blip r:embed="rId8">
            <a:alphaModFix/>
          </a:blip>
          <a:srcRect/>
          <a:stretch>
            <a:fillRect/>
          </a:stretch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g3d96ba28e0f_0_300"/>
          <p:cNvPicPr/>
          <p:nvPr/>
        </p:nvPicPr>
        <p:blipFill rotWithShape="1">
          <a:blip r:embed="rId9">
            <a:alphaModFix/>
          </a:blip>
          <a:srcRect/>
          <a:stretch>
            <a:fillRect/>
          </a:stretch>
        </p:blipFill>
        <p:spPr>
          <a:xfrm>
            <a:off x="977900" y="1574800"/>
            <a:ext cx="22402800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g3d96ba28e0f_0_300"/>
          <p:cNvPicPr/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g3d96ba28e0f_0_300"/>
          <p:cNvPicPr/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g3d96ba28e0f_0_30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wrap="square" lIns="0" tIns="47075" rIns="0" bIns="470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sz="3706" b="0" i="0" u="none" strike="noStrike" cap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d96ba28e0f_0_300"/>
          <p:cNvSpPr txBox="1"/>
          <p:nvPr/>
        </p:nvSpPr>
        <p:spPr>
          <a:xfrm>
            <a:off x="7467600" y="231145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wrap="square" lIns="0" tIns="178300" rIns="0" bIns="178300" anchor="ctr" anchorCtr="0">
            <a:noAutofit/>
          </a:bodyPr>
          <a:lstStyle/>
          <a:p>
            <a:pPr marL="0" marR="0" lvl="0" indent="0" algn="l" rtl="0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r>
              <a:rPr lang="en-US" sz="7200" b="0" i="0" u="none" strike="noStrike" cap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구현 영상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6" name="8조_전체 구현 영상.mp4">
            <a:hlinkClick r:id="" action="ppaction://media"/>
          </p:cNvPr>
          <p:cNvPicPr>
            <a:picLocks noRot="1"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 rotWithShape="1">
          <a:blip r:embed="rId14"/>
          <a:stretch>
            <a:fillRect/>
          </a:stretch>
        </p:blipFill>
        <p:spPr>
          <a:xfrm>
            <a:off x="6592186" y="4970720"/>
            <a:ext cx="11199628" cy="6299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71851" fill="hold"/>
                                        <p:tgtEl>
                                          <p:spTgt spid="11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6"/>
                  </p:tgtEl>
                </p:cond>
              </p:nextCondLst>
            </p:seq>
            <p:video>
              <p:cMediaNode vol="50000">
                <p:cTn id="13" fill="hold" display="0">
                  <p:stCondLst>
                    <p:cond delay="indefinite"/>
                  </p:stCondLst>
                </p:cTn>
                <p:tgtEl>
                  <p:spTgt spid="1186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g3dc6eb7af18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g3dc6eb7af18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g3dc6eb7af18_1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g3dc6eb7af18_1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g3dc6eb7af18_1_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g3dc6eb7af18_1_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g3dc6eb7af18_1_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g3dc6eb7af18_1_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g3dc6eb7af18_1_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g3dc6eb7af18_1_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g3dc6eb7af18_1_9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Troubleshooting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Google Shape;1201;g3dc6eb7af18_1_9" title="Trouble shooting before revise">
            <a:hlinkClick r:id="rId12"/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5849588" y="5054598"/>
            <a:ext cx="5498666" cy="30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g3dc6eb7af18_1_9"/>
          <p:cNvSpPr txBox="1"/>
          <p:nvPr/>
        </p:nvSpPr>
        <p:spPr>
          <a:xfrm>
            <a:off x="4096664" y="5022850"/>
            <a:ext cx="86817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DHT11 첫 번째 측정 후 FND에 0000표시, 두 번째 측정 후 정상값 출력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버튼을 누를 때마다 FND 깜빡이는 문제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03" name="Google Shape;1203;g3dc6eb7af18_1_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68065" y="5082738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3dc6eb7af18_1_9"/>
          <p:cNvSpPr txBox="1"/>
          <p:nvPr/>
        </p:nvSpPr>
        <p:spPr>
          <a:xfrm>
            <a:off x="2656964" y="5425638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현상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3dc6eb7af18_1_9"/>
          <p:cNvSpPr txBox="1"/>
          <p:nvPr/>
        </p:nvSpPr>
        <p:spPr>
          <a:xfrm>
            <a:off x="4096677" y="6818225"/>
            <a:ext cx="89052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초기 data_reg = 0 -&gt; 체크섬 0 == 0 성립 -&gt; valid = 1 -&gt; 타이밍 불일치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humidity/temperature-&gt; data_reg 직접 연결 -&gt; 수신 중 FND 실시간 변경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06" name="Google Shape;1206;g3dc6eb7af18_1_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68065" y="6996325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g3dc6eb7af18_1_9"/>
          <p:cNvSpPr txBox="1"/>
          <p:nvPr/>
        </p:nvSpPr>
        <p:spPr>
          <a:xfrm>
            <a:off x="2656964" y="7339225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g3dc6eb7af18_1_9"/>
          <p:cNvSpPr txBox="1"/>
          <p:nvPr/>
        </p:nvSpPr>
        <p:spPr>
          <a:xfrm>
            <a:off x="4048176" y="8909900"/>
            <a:ext cx="87303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n_state == STOP 조건 추가 + hm_reg/tm_reg 레지스터 분리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valid = 1일 때만 hm_reg/tm_reg에 최종값 저장 후 출력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09" name="Google Shape;1209;g3dc6eb7af18_1_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19565" y="8969800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g3dc6eb7af18_1_9"/>
          <p:cNvSpPr txBox="1"/>
          <p:nvPr/>
        </p:nvSpPr>
        <p:spPr>
          <a:xfrm>
            <a:off x="2608464" y="9312700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3dc6eb7af18_1_9"/>
          <p:cNvSpPr txBox="1"/>
          <p:nvPr/>
        </p:nvSpPr>
        <p:spPr>
          <a:xfrm>
            <a:off x="17828977" y="4324400"/>
            <a:ext cx="1539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3">
                <a:solidFill>
                  <a:srgbClr val="545454"/>
                </a:solidFill>
              </a:rPr>
              <a:t>Before</a:t>
            </a:r>
            <a:endParaRPr sz="2033">
              <a:solidFill>
                <a:srgbClr val="545454"/>
              </a:solidFill>
            </a:endParaRPr>
          </a:p>
        </p:txBody>
      </p:sp>
      <p:sp>
        <p:nvSpPr>
          <p:cNvPr id="1212" name="Google Shape;1212;g3dc6eb7af18_1_9"/>
          <p:cNvSpPr txBox="1"/>
          <p:nvPr/>
        </p:nvSpPr>
        <p:spPr>
          <a:xfrm>
            <a:off x="17828977" y="8217500"/>
            <a:ext cx="1539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33">
                <a:solidFill>
                  <a:srgbClr val="545454"/>
                </a:solidFill>
              </a:rPr>
              <a:t>After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13" name="Google Shape;1213;g3dc6eb7af18_1_9" title="8조 트러블 슈팅 영상 fnd after">
            <a:hlinkClick r:id="rId16"/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849600" y="8947700"/>
            <a:ext cx="5498650" cy="309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g3d96ba28e0f_0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g3d96ba28e0f_0_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g3d96ba28e0f_0_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g3d96ba28e0f_0_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g3d96ba28e0f_0_2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g3d96ba28e0f_0_2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g3d96ba28e0f_0_2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g3d96ba28e0f_0_2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g3d96ba28e0f_0_2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g3d96ba28e0f_0_21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3d96ba28e0f_0_210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Troubleshooting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3d96ba28e0f_0_210"/>
          <p:cNvSpPr txBox="1"/>
          <p:nvPr/>
        </p:nvSpPr>
        <p:spPr>
          <a:xfrm>
            <a:off x="16306800" y="6734250"/>
            <a:ext cx="4759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0    0    0    0    1    1    0    0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g3d96ba28e0f_0_210"/>
          <p:cNvSpPr txBox="1"/>
          <p:nvPr/>
        </p:nvSpPr>
        <p:spPr>
          <a:xfrm>
            <a:off x="4096664" y="5022850"/>
            <a:ext cx="86817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PC 명령어와 FPGA 물리 SW 입력이 동시에 존재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단순 OR 방식으로 합치면 SW를 0으로 내리는 동작이 어려움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단순 대입 방식은 한쪽 입력이 다른 입력 전체를 덮어쓰는 문제 발생  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31" name="Google Shape;1231;g3d96ba28e0f_0_2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8065" y="5082738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g3d96ba28e0f_0_210"/>
          <p:cNvSpPr txBox="1"/>
          <p:nvPr/>
        </p:nvSpPr>
        <p:spPr>
          <a:xfrm>
            <a:off x="2656964" y="5425638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현상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3d96ba28e0f_0_210"/>
          <p:cNvSpPr txBox="1"/>
          <p:nvPr/>
        </p:nvSpPr>
        <p:spPr>
          <a:xfrm>
            <a:off x="4096675" y="6818225"/>
            <a:ext cx="92637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버튼은 pulse 신호이지만, SW는 값을 유지하는 level 신호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따라서 PC 입력과 FPGA 입력 중 어느 bit가 실제로 변경되었는지 판단 필요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전체 4bit를 한 번에 갱신하면 변경하지 않은 bit까지 같이 바뀔 수 있음  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34" name="Google Shape;1234;g3d96ba28e0f_0_2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68065" y="6996325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g3d96ba28e0f_0_210"/>
          <p:cNvSpPr txBox="1"/>
          <p:nvPr/>
        </p:nvSpPr>
        <p:spPr>
          <a:xfrm>
            <a:off x="2656964" y="7339225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g3d96ba28e0f_0_210"/>
          <p:cNvSpPr txBox="1"/>
          <p:nvPr/>
        </p:nvSpPr>
        <p:spPr>
          <a:xfrm>
            <a:off x="4048176" y="8909900"/>
            <a:ext cx="87303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FPGA SW와 Virtual SW의 이전 값을 각각 저장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현재 값과 이전 값을 XOR하여 변경된 bit mask 생성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변경된 bit만 merged_sw에 반영</a:t>
            </a:r>
            <a:endParaRPr sz="2033">
              <a:solidFill>
                <a:srgbClr val="545454"/>
              </a:solidFill>
            </a:endParaRPr>
          </a:p>
          <a:p>
            <a:pPr indent="-357696" lvl="0" marL="45720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2033"/>
              <a:buChar char="●"/>
            </a:pPr>
            <a:r>
              <a:rPr lang="en-US" sz="2033">
                <a:solidFill>
                  <a:srgbClr val="545454"/>
                </a:solidFill>
              </a:rPr>
              <a:t>변경되지 않은 bit는 기존 merged_sw 값을 유지  </a:t>
            </a:r>
            <a:endParaRPr sz="2033">
              <a:solidFill>
                <a:srgbClr val="545454"/>
              </a:solidFill>
            </a:endParaRPr>
          </a:p>
        </p:txBody>
      </p:sp>
      <p:pic>
        <p:nvPicPr>
          <p:cNvPr id="1237" name="Google Shape;1237;g3d96ba28e0f_0_2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19565" y="8969800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g3d96ba28e0f_0_210"/>
          <p:cNvSpPr txBox="1"/>
          <p:nvPr/>
        </p:nvSpPr>
        <p:spPr>
          <a:xfrm>
            <a:off x="2608464" y="9312700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9" name="Google Shape;1239;g3d96ba28e0f_0_210" title="김한림uartfifosensor트러블슈팅.mp4">
            <a:hlinkClick r:id="rId14"/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056175" y="4342083"/>
            <a:ext cx="4518625" cy="803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g3dc288aeda7_0_4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g3dc288aeda7_0_4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g3dc288aeda7_0_4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g3dc288aeda7_0_4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g3dc288aeda7_0_4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g3dc288aeda7_0_4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g3dc288aeda7_0_4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g3dc288aeda7_0_4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g3dc288aeda7_0_4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dc288aeda7_0_41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3706">
                <a:solidFill>
                  <a:srgbClr val="545454"/>
                </a:solidFill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3dc288aeda7_0_410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결론 및 고찰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5" name="Google Shape;1255;g3dc288aeda7_0_4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33550" y="5130800"/>
            <a:ext cx="590795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g3dc288aeda7_0_410"/>
          <p:cNvSpPr txBox="1"/>
          <p:nvPr/>
        </p:nvSpPr>
        <p:spPr>
          <a:xfrm>
            <a:off x="3136850" y="5772213"/>
            <a:ext cx="3771900" cy="129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545454"/>
                </a:solidFill>
              </a:rPr>
              <a:t>통합 제어 시스템 구현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g3dc288aeda7_0_410"/>
          <p:cNvSpPr txBox="1"/>
          <p:nvPr/>
        </p:nvSpPr>
        <p:spPr>
          <a:xfrm>
            <a:off x="2689412" y="7369300"/>
            <a:ext cx="46734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PC 명령어를 FPGA 내부 제어 신호로 변환하고,</a:t>
            </a:r>
            <a:endParaRPr sz="2431">
              <a:solidFill>
                <a:srgbClr val="545454"/>
              </a:solidFill>
            </a:endParaRPr>
          </a:p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현재 상태 데이터를 다시 PC로 송신하는 양방향 통신 구조 구현 </a:t>
            </a:r>
            <a:endParaRPr sz="2431">
              <a:solidFill>
                <a:srgbClr val="545454"/>
              </a:solidFill>
            </a:endParaRPr>
          </a:p>
        </p:txBody>
      </p:sp>
      <p:pic>
        <p:nvPicPr>
          <p:cNvPr id="1258" name="Google Shape;1258;g3dc288aeda7_0_4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02750" y="5118100"/>
            <a:ext cx="577850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g3dc288aeda7_0_410"/>
          <p:cNvSpPr txBox="1"/>
          <p:nvPr/>
        </p:nvSpPr>
        <p:spPr>
          <a:xfrm>
            <a:off x="10306050" y="5772225"/>
            <a:ext cx="3771900" cy="129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545454"/>
                </a:solidFill>
              </a:rPr>
              <a:t>Datasheet 기반 </a:t>
            </a:r>
            <a:br>
              <a:rPr lang="en-US" sz="3000">
                <a:solidFill>
                  <a:srgbClr val="545454"/>
                </a:solidFill>
              </a:rPr>
            </a:br>
            <a:r>
              <a:rPr lang="en-US" sz="3000">
                <a:solidFill>
                  <a:srgbClr val="545454"/>
                </a:solidFill>
              </a:rPr>
              <a:t>센서 제어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g3dc288aeda7_0_410"/>
          <p:cNvSpPr txBox="1"/>
          <p:nvPr/>
        </p:nvSpPr>
        <p:spPr>
          <a:xfrm>
            <a:off x="9956850" y="7369300"/>
            <a:ext cx="44703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SR04와 DHT11 컨트롤러를 </a:t>
            </a:r>
            <a:br>
              <a:rPr lang="en-US" sz="2431">
                <a:solidFill>
                  <a:srgbClr val="545454"/>
                </a:solidFill>
              </a:rPr>
            </a:br>
            <a:r>
              <a:rPr lang="en-US" sz="2431">
                <a:solidFill>
                  <a:srgbClr val="545454"/>
                </a:solidFill>
              </a:rPr>
              <a:t>직접 설계하며</a:t>
            </a:r>
            <a:endParaRPr sz="2431">
              <a:solidFill>
                <a:srgbClr val="545454"/>
              </a:solidFill>
            </a:endParaRPr>
          </a:p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센서별 타이밍 조건과 </a:t>
            </a:r>
            <a:br>
              <a:rPr lang="en-US" sz="2431">
                <a:solidFill>
                  <a:srgbClr val="545454"/>
                </a:solidFill>
              </a:rPr>
            </a:br>
            <a:r>
              <a:rPr lang="en-US" sz="2431">
                <a:solidFill>
                  <a:srgbClr val="545454"/>
                </a:solidFill>
              </a:rPr>
              <a:t>프로토콜 해석의 중요성 확인 </a:t>
            </a:r>
            <a:endParaRPr sz="2431">
              <a:solidFill>
                <a:srgbClr val="545454"/>
              </a:solidFill>
            </a:endParaRPr>
          </a:p>
        </p:txBody>
      </p:sp>
      <p:pic>
        <p:nvPicPr>
          <p:cNvPr id="1261" name="Google Shape;1261;g3dc288aeda7_0_4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471950" y="5130800"/>
            <a:ext cx="577850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g3dc288aeda7_0_410"/>
          <p:cNvSpPr txBox="1"/>
          <p:nvPr/>
        </p:nvSpPr>
        <p:spPr>
          <a:xfrm>
            <a:off x="17475250" y="5772225"/>
            <a:ext cx="3771900" cy="129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545454"/>
                </a:solidFill>
              </a:rPr>
              <a:t>안정적인 하드웨어 </a:t>
            </a:r>
            <a:br>
              <a:rPr lang="en-US" sz="3000">
                <a:solidFill>
                  <a:srgbClr val="545454"/>
                </a:solidFill>
              </a:rPr>
            </a:br>
            <a:r>
              <a:rPr lang="en-US" sz="3000">
                <a:solidFill>
                  <a:srgbClr val="545454"/>
                </a:solidFill>
              </a:rPr>
              <a:t>동작 고려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g3dc288aeda7_0_410"/>
          <p:cNvSpPr txBox="1"/>
          <p:nvPr/>
        </p:nvSpPr>
        <p:spPr>
          <a:xfrm>
            <a:off x="17126050" y="7369300"/>
            <a:ext cx="44703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실제 FPGA 환경에서 </a:t>
            </a:r>
            <a:br>
              <a:rPr lang="en-US" sz="2431">
                <a:solidFill>
                  <a:srgbClr val="545454"/>
                </a:solidFill>
              </a:rPr>
            </a:br>
            <a:r>
              <a:rPr lang="en-US" sz="2431">
                <a:solidFill>
                  <a:srgbClr val="545454"/>
                </a:solidFill>
              </a:rPr>
              <a:t>발생할 수 있는</a:t>
            </a:r>
            <a:endParaRPr sz="2431">
              <a:solidFill>
                <a:srgbClr val="545454"/>
              </a:solidFill>
            </a:endParaRPr>
          </a:p>
          <a:p>
            <a:pPr indent="0" lvl="0" marL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31">
                <a:solidFill>
                  <a:srgbClr val="545454"/>
                </a:solidFill>
              </a:rPr>
              <a:t>입력 충돌과 출력 불안정 문제 개선 </a:t>
            </a:r>
            <a:endParaRPr sz="2431">
              <a:solidFill>
                <a:srgbClr val="545454"/>
              </a:solidFill>
            </a:endParaRPr>
          </a:p>
        </p:txBody>
      </p:sp>
      <p:sp>
        <p:nvSpPr>
          <p:cNvPr id="1264" name="Google Shape;1264;g3dc288aeda7_0_410"/>
          <p:cNvSpPr txBox="1"/>
          <p:nvPr/>
        </p:nvSpPr>
        <p:spPr>
          <a:xfrm>
            <a:off x="2262900" y="9334750"/>
            <a:ext cx="57786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UART/FIFO 기반 송수신 경로 구성</a:t>
            </a:r>
            <a:endParaRPr sz="2231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ASCII Decoder/Sender를 통한 명령어 처리</a:t>
            </a:r>
            <a:endParaRPr sz="2231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시간 기능과 센서 모드 통합 제어 </a:t>
            </a:r>
            <a:endParaRPr sz="2231">
              <a:solidFill>
                <a:srgbClr val="545454"/>
              </a:solidFill>
            </a:endParaRPr>
          </a:p>
        </p:txBody>
      </p:sp>
      <p:sp>
        <p:nvSpPr>
          <p:cNvPr id="1265" name="Google Shape;1265;g3dc288aeda7_0_410"/>
          <p:cNvSpPr txBox="1"/>
          <p:nvPr/>
        </p:nvSpPr>
        <p:spPr>
          <a:xfrm>
            <a:off x="9407550" y="9334725"/>
            <a:ext cx="57786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센서별 타이밍 조건 분석</a:t>
            </a:r>
            <a:endParaRPr sz="2231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FSM 기반 데이터 수신 구조 설계</a:t>
            </a:r>
            <a:endParaRPr sz="2231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valid 처리로 출력 데이터 안정화  </a:t>
            </a:r>
            <a:endParaRPr sz="2231">
              <a:solidFill>
                <a:srgbClr val="545454"/>
              </a:solidFill>
            </a:endParaRPr>
          </a:p>
        </p:txBody>
      </p:sp>
      <p:sp>
        <p:nvSpPr>
          <p:cNvPr id="1266" name="Google Shape;1266;g3dc288aeda7_0_410"/>
          <p:cNvSpPr txBox="1"/>
          <p:nvPr/>
        </p:nvSpPr>
        <p:spPr>
          <a:xfrm>
            <a:off x="16571850" y="9334725"/>
            <a:ext cx="57786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bit masking 기반 입력 병합</a:t>
            </a:r>
            <a:endParaRPr sz="2231">
              <a:solidFill>
                <a:srgbClr val="545454"/>
              </a:solidFill>
            </a:endParaRPr>
          </a:p>
          <a:p>
            <a:pPr indent="0" lvl="0" marL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valid 조건 강화</a:t>
            </a:r>
            <a:endParaRPr sz="2231">
              <a:solidFill>
                <a:srgbClr val="545454"/>
              </a:solidFill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lang="en-US" sz="2231">
                <a:solidFill>
                  <a:srgbClr val="545454"/>
                </a:solidFill>
              </a:rPr>
              <a:t>-&gt; 출력 레지스터 분리  </a:t>
            </a:r>
            <a:endParaRPr sz="2231">
              <a:solidFill>
                <a:srgbClr val="54545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EF1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800" y="14478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01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9182100"/>
            <a:ext cx="22415500" cy="88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960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1800" y="16510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1800" y="18542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84200" y="15494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1800" y="20574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100" y="11772900"/>
            <a:ext cx="22529800" cy="75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83400" y="12331700"/>
            <a:ext cx="5334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1100" y="13106400"/>
            <a:ext cx="9867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23000" y="8077200"/>
            <a:ext cx="119507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3" name="Google Shape;1283;p30"/>
          <p:cNvSpPr txBox="1"/>
          <p:nvPr/>
        </p:nvSpPr>
        <p:spPr>
          <a:xfrm>
            <a:off x="4521200" y="3860800"/>
            <a:ext cx="1536700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8750" lIns="0" spcFirstLastPara="1" rIns="0" wrap="square" tIns="238750">
            <a:noAutofit/>
          </a:bodyPr>
          <a:lstStyle/>
          <a:p>
            <a:pPr indent="0" lvl="0" marL="0" marR="0" rtl="0" algn="ctr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3"/>
              <a:buFont typeface="Arial"/>
              <a:buNone/>
            </a:pPr>
            <a:r>
              <a:rPr b="0" i="0" lang="en-US" sz="125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0"/>
          <p:cNvSpPr txBox="1"/>
          <p:nvPr/>
        </p:nvSpPr>
        <p:spPr>
          <a:xfrm>
            <a:off x="7658100" y="12458700"/>
            <a:ext cx="97409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25" lIns="0" spcFirstLastPara="1" rIns="0" wrap="square" tIns="31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온디바이스 AI 2기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/>
  <ep:Paragraphs>0</ep:Paragraphs>
  <ep:Slides>47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ep:HeadingPairs>
  <ep:TitlesOfParts>
    <vt:vector size="4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kccistc</dc:creator>
  <cp:lastModifiedBy>USER</cp:lastModifiedBy>
  <dcterms:modified xsi:type="dcterms:W3CDTF">2026-05-10T00:38:38.184</dcterms:modified>
  <cp:revision>1</cp:revision>
  <cp:version>1000.0000.01</cp:version>
</cp:coreProperties>
</file>